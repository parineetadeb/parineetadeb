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5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4.xml"/><Relationship Id="rId21" Type="http://schemas.openxmlformats.org/officeDocument/2006/relationships/font" Target="fonts/RobotoMon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RobotoMono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8f96cbbc2_0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c8f96cbbc2_0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5b44b43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c5b44b43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5c4ed408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c5c4ed408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5c4ed408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c5c4ed408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c5c4ed408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c5c4ed408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Logical Data Flow:</a:t>
            </a:r>
            <a:r>
              <a:rPr lang="en">
                <a:solidFill>
                  <a:schemeClr val="dk1"/>
                </a:solidFill>
              </a:rPr>
              <a:t> Illustrates the transformation of a plaintext Master Password into a high-entropy AES-256 key via PBKDF2.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Modular Decoupling:</a:t>
            </a:r>
            <a:r>
              <a:rPr lang="en">
                <a:solidFill>
                  <a:schemeClr val="dk1"/>
                </a:solidFill>
              </a:rPr>
              <a:t> Each process (1.0 to 4.0) represents an independent Python module, ensuring a maintainable and secure codebase.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Cryptographic Gatekeeping:</a:t>
            </a:r>
            <a:r>
              <a:rPr lang="en">
                <a:solidFill>
                  <a:schemeClr val="dk1"/>
                </a:solidFill>
              </a:rPr>
              <a:t> Process 3.0 acts as the sole "Gatekeeper" for the SQLite DB, ensuring no unencrypted data ever reaches the disk.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Heuristic Intelligence:</a:t>
            </a:r>
            <a:r>
              <a:rPr lang="en">
                <a:solidFill>
                  <a:schemeClr val="dk1"/>
                </a:solidFill>
              </a:rPr>
              <a:t> Process 4.0 (Security Auditor) operates on decrypted data in volatile memory to generate real-time security alerts.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Data Persistence:</a:t>
            </a:r>
            <a:r>
              <a:rPr lang="en">
                <a:solidFill>
                  <a:schemeClr val="dk1"/>
                </a:solidFill>
              </a:rPr>
              <a:t> Highlights the interaction with the </a:t>
            </a:r>
            <a:r>
              <a:rPr b="1" lang="en">
                <a:solidFill>
                  <a:schemeClr val="dk1"/>
                </a:solidFill>
              </a:rPr>
              <a:t>SQLite Database</a:t>
            </a:r>
            <a:r>
              <a:rPr lang="en">
                <a:solidFill>
                  <a:schemeClr val="dk1"/>
                </a:solidFill>
              </a:rPr>
              <a:t> as the primary data store. 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79760e2e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d79760e2e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7c9a1e7b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d7c9a1e7b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7c9a1e7b4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d7c9a1e7b4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79760e2e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d79760e2e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79760e2e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d79760e2e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79760e2e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d79760e2e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79760e2e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d79760e2e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4"/>
          <p:cNvGrpSpPr/>
          <p:nvPr/>
        </p:nvGrpSpPr>
        <p:grpSpPr>
          <a:xfrm>
            <a:off x="-78" y="-6350"/>
            <a:ext cx="9144178" cy="5149935"/>
            <a:chOff x="-104" y="-8467"/>
            <a:chExt cx="12192237" cy="6866580"/>
          </a:xfrm>
        </p:grpSpPr>
        <p:cxnSp>
          <p:nvCxnSpPr>
            <p:cNvPr id="69" name="Google Shape;69;p14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715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" name="Google Shape;70;p14"/>
            <p:cNvCxnSpPr/>
            <p:nvPr/>
          </p:nvCxnSpPr>
          <p:spPr>
            <a:xfrm flipH="1">
              <a:off x="7425125" y="3681413"/>
              <a:ext cx="4763700" cy="3176700"/>
            </a:xfrm>
            <a:prstGeom prst="straightConnector1">
              <a:avLst/>
            </a:prstGeom>
            <a:noFill/>
            <a:ln cap="flat" cmpd="sng" w="7150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" name="Google Shape;71;p14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0"/>
              </a:schemeClr>
            </a:solidFill>
            <a:ln>
              <a:noFill/>
            </a:ln>
          </p:spPr>
        </p:sp>
        <p:sp>
          <p:nvSpPr>
            <p:cNvPr id="72" name="Google Shape;72;p14"/>
            <p:cNvSpPr/>
            <p:nvPr/>
          </p:nvSpPr>
          <p:spPr>
            <a:xfrm>
              <a:off x="9603442" y="-8467"/>
              <a:ext cx="258617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73" name="Google Shape;73;p14"/>
            <p:cNvSpPr/>
            <p:nvPr/>
          </p:nvSpPr>
          <p:spPr>
            <a:xfrm>
              <a:off x="8932333" y="3048000"/>
              <a:ext cx="3259800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760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9334500" y="-8467"/>
              <a:ext cx="2850868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0"/>
              </a:srgbClr>
            </a:solidFill>
            <a:ln>
              <a:noFill/>
            </a:ln>
          </p:spPr>
        </p:sp>
        <p:sp>
          <p:nvSpPr>
            <p:cNvPr id="75" name="Google Shape;75;p14"/>
            <p:cNvSpPr/>
            <p:nvPr/>
          </p:nvSpPr>
          <p:spPr>
            <a:xfrm>
              <a:off x="10898730" y="-8467"/>
              <a:ext cx="1290094" cy="6858000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0"/>
              </a:srgbClr>
            </a:solidFill>
            <a:ln>
              <a:noFill/>
            </a:ln>
          </p:spPr>
        </p:sp>
        <p:sp>
          <p:nvSpPr>
            <p:cNvPr id="76" name="Google Shape;76;p14"/>
            <p:cNvSpPr/>
            <p:nvPr/>
          </p:nvSpPr>
          <p:spPr>
            <a:xfrm>
              <a:off x="10938999" y="-8467"/>
              <a:ext cx="1249825" cy="6858000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9"/>
              </a:schemeClr>
            </a:solidFill>
            <a:ln>
              <a:noFill/>
            </a:ln>
          </p:spPr>
        </p:sp>
        <p:sp>
          <p:nvSpPr>
            <p:cNvPr id="77" name="Google Shape;77;p14"/>
            <p:cNvSpPr/>
            <p:nvPr/>
          </p:nvSpPr>
          <p:spPr>
            <a:xfrm>
              <a:off x="10371666" y="3589867"/>
              <a:ext cx="1817100" cy="3268200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 rot="10800000">
              <a:off x="-104" y="54"/>
              <a:ext cx="842700" cy="5666100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4710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14"/>
          <p:cNvSpPr txBox="1"/>
          <p:nvPr>
            <p:ph type="ctrTitle"/>
          </p:nvPr>
        </p:nvSpPr>
        <p:spPr>
          <a:xfrm>
            <a:off x="1130300" y="1803401"/>
            <a:ext cx="5825400" cy="123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Trebuchet MS"/>
              <a:buNone/>
              <a:defRPr sz="41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1130300" y="3038125"/>
            <a:ext cx="58254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r">
              <a:spcBef>
                <a:spcPts val="800"/>
              </a:spcBef>
              <a:spcAft>
                <a:spcPts val="0"/>
              </a:spcAft>
              <a:buSzPts val="110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6442997" y="4531022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sz="2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508000" y="1620442"/>
            <a:ext cx="64476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5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6442997" y="4531022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508001" y="2025650"/>
            <a:ext cx="6447600" cy="1370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rebuchet MS"/>
              <a:buNone/>
              <a:defRPr b="0" sz="3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508001" y="3395586"/>
            <a:ext cx="64476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6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6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6442997" y="4531022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508001" y="1620442"/>
            <a:ext cx="31380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99" name="Google Shape;99;p17"/>
          <p:cNvSpPr txBox="1"/>
          <p:nvPr>
            <p:ph idx="2" type="body"/>
          </p:nvPr>
        </p:nvSpPr>
        <p:spPr>
          <a:xfrm>
            <a:off x="3817478" y="1620442"/>
            <a:ext cx="31380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00" name="Google Shape;100;p17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12" type="sldNum"/>
          </p:nvPr>
        </p:nvSpPr>
        <p:spPr>
          <a:xfrm>
            <a:off x="6442997" y="4531022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506809" y="1620737"/>
            <a:ext cx="31392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106" name="Google Shape;106;p18"/>
          <p:cNvSpPr txBox="1"/>
          <p:nvPr>
            <p:ph idx="2" type="body"/>
          </p:nvPr>
        </p:nvSpPr>
        <p:spPr>
          <a:xfrm>
            <a:off x="506809" y="2052934"/>
            <a:ext cx="3139200" cy="24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3" type="body"/>
          </p:nvPr>
        </p:nvSpPr>
        <p:spPr>
          <a:xfrm>
            <a:off x="3816287" y="1620737"/>
            <a:ext cx="31392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108" name="Google Shape;108;p18"/>
          <p:cNvSpPr txBox="1"/>
          <p:nvPr>
            <p:ph idx="4" type="body"/>
          </p:nvPr>
        </p:nvSpPr>
        <p:spPr>
          <a:xfrm>
            <a:off x="3816288" y="2052934"/>
            <a:ext cx="3139200" cy="24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12" type="sldNum"/>
          </p:nvPr>
        </p:nvSpPr>
        <p:spPr>
          <a:xfrm>
            <a:off x="6442997" y="4531022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19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>
            <p:ph idx="12" type="sldNum"/>
          </p:nvPr>
        </p:nvSpPr>
        <p:spPr>
          <a:xfrm>
            <a:off x="6442997" y="4531022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12" type="sldNum"/>
          </p:nvPr>
        </p:nvSpPr>
        <p:spPr>
          <a:xfrm>
            <a:off x="6442997" y="4531022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508001" y="1123953"/>
            <a:ext cx="28908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Trebuchet MS"/>
              <a:buNone/>
              <a:defRPr sz="15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570346" y="386193"/>
            <a:ext cx="3385200" cy="4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24" name="Google Shape;124;p21"/>
          <p:cNvSpPr txBox="1"/>
          <p:nvPr>
            <p:ph idx="2" type="body"/>
          </p:nvPr>
        </p:nvSpPr>
        <p:spPr>
          <a:xfrm>
            <a:off x="508001" y="2082802"/>
            <a:ext cx="2890800" cy="19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9pPr>
          </a:lstStyle>
          <a:p/>
        </p:txBody>
      </p:sp>
      <p:sp>
        <p:nvSpPr>
          <p:cNvPr id="125" name="Google Shape;125;p21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12" type="sldNum"/>
          </p:nvPr>
        </p:nvSpPr>
        <p:spPr>
          <a:xfrm>
            <a:off x="6442997" y="4531022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508000" y="3600450"/>
            <a:ext cx="6447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rebuchet MS"/>
              <a:buNone/>
              <a:defRPr b="0"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2"/>
          <p:cNvSpPr/>
          <p:nvPr>
            <p:ph idx="2" type="pic"/>
          </p:nvPr>
        </p:nvSpPr>
        <p:spPr>
          <a:xfrm>
            <a:off x="508000" y="457200"/>
            <a:ext cx="6447600" cy="28842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508000" y="4025504"/>
            <a:ext cx="64476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132" name="Google Shape;132;p22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2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2"/>
          <p:cNvSpPr txBox="1"/>
          <p:nvPr>
            <p:ph idx="12" type="sldNum"/>
          </p:nvPr>
        </p:nvSpPr>
        <p:spPr>
          <a:xfrm>
            <a:off x="6442997" y="4531022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508001" y="457200"/>
            <a:ext cx="6447600" cy="25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508001" y="3352800"/>
            <a:ext cx="6447600" cy="11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8" name="Google Shape;138;p23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3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3"/>
          <p:cNvSpPr txBox="1"/>
          <p:nvPr>
            <p:ph idx="12" type="sldNum"/>
          </p:nvPr>
        </p:nvSpPr>
        <p:spPr>
          <a:xfrm>
            <a:off x="6442997" y="4531022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698501" y="457200"/>
            <a:ext cx="60705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1024604" y="2724150"/>
            <a:ext cx="5418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 sz="12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44" name="Google Shape;144;p24"/>
          <p:cNvSpPr txBox="1"/>
          <p:nvPr>
            <p:ph idx="2" type="body"/>
          </p:nvPr>
        </p:nvSpPr>
        <p:spPr>
          <a:xfrm>
            <a:off x="508001" y="3352800"/>
            <a:ext cx="6447600" cy="11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5" name="Google Shape;145;p24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4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24"/>
          <p:cNvSpPr txBox="1"/>
          <p:nvPr>
            <p:ph idx="12" type="sldNum"/>
          </p:nvPr>
        </p:nvSpPr>
        <p:spPr>
          <a:xfrm>
            <a:off x="6442997" y="4531022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4"/>
          <p:cNvSpPr txBox="1"/>
          <p:nvPr/>
        </p:nvSpPr>
        <p:spPr>
          <a:xfrm>
            <a:off x="406402" y="592784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100"/>
          </a:p>
        </p:txBody>
      </p:sp>
      <p:sp>
        <p:nvSpPr>
          <p:cNvPr id="149" name="Google Shape;149;p24"/>
          <p:cNvSpPr txBox="1"/>
          <p:nvPr/>
        </p:nvSpPr>
        <p:spPr>
          <a:xfrm>
            <a:off x="6669758" y="2164917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400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508001" y="1448991"/>
            <a:ext cx="6447600" cy="194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508001" y="3395586"/>
            <a:ext cx="64476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3" name="Google Shape;153;p25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5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25"/>
          <p:cNvSpPr txBox="1"/>
          <p:nvPr>
            <p:ph idx="12" type="sldNum"/>
          </p:nvPr>
        </p:nvSpPr>
        <p:spPr>
          <a:xfrm>
            <a:off x="6442997" y="4531022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698501" y="457200"/>
            <a:ext cx="60705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507999" y="3009900"/>
            <a:ext cx="64476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Font typeface="Trebuchet MS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59" name="Google Shape;159;p26"/>
          <p:cNvSpPr txBox="1"/>
          <p:nvPr>
            <p:ph idx="2" type="body"/>
          </p:nvPr>
        </p:nvSpPr>
        <p:spPr>
          <a:xfrm>
            <a:off x="508001" y="3395586"/>
            <a:ext cx="64476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0" name="Google Shape;160;p26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26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26"/>
          <p:cNvSpPr txBox="1"/>
          <p:nvPr>
            <p:ph idx="12" type="sldNum"/>
          </p:nvPr>
        </p:nvSpPr>
        <p:spPr>
          <a:xfrm>
            <a:off x="6442997" y="4531022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26"/>
          <p:cNvSpPr txBox="1"/>
          <p:nvPr/>
        </p:nvSpPr>
        <p:spPr>
          <a:xfrm>
            <a:off x="406402" y="592784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100"/>
          </a:p>
        </p:txBody>
      </p:sp>
      <p:sp>
        <p:nvSpPr>
          <p:cNvPr id="164" name="Google Shape;164;p26"/>
          <p:cNvSpPr txBox="1"/>
          <p:nvPr/>
        </p:nvSpPr>
        <p:spPr>
          <a:xfrm>
            <a:off x="6669758" y="2164917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10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514349" y="457200"/>
            <a:ext cx="64410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27"/>
          <p:cNvSpPr txBox="1"/>
          <p:nvPr>
            <p:ph idx="1" type="body"/>
          </p:nvPr>
        </p:nvSpPr>
        <p:spPr>
          <a:xfrm>
            <a:off x="507999" y="3009900"/>
            <a:ext cx="64476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Font typeface="Trebuchet MS"/>
              <a:buNone/>
              <a:defRPr sz="18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68" name="Google Shape;168;p27"/>
          <p:cNvSpPr txBox="1"/>
          <p:nvPr>
            <p:ph idx="2" type="body"/>
          </p:nvPr>
        </p:nvSpPr>
        <p:spPr>
          <a:xfrm>
            <a:off x="508001" y="3395586"/>
            <a:ext cx="64476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9" name="Google Shape;169;p27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27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27"/>
          <p:cNvSpPr txBox="1"/>
          <p:nvPr>
            <p:ph idx="12" type="sldNum"/>
          </p:nvPr>
        </p:nvSpPr>
        <p:spPr>
          <a:xfrm>
            <a:off x="6442997" y="4531022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 rot="5400000">
            <a:off x="2276402" y="-148058"/>
            <a:ext cx="2910600" cy="6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75" name="Google Shape;175;p28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28"/>
          <p:cNvSpPr txBox="1"/>
          <p:nvPr>
            <p:ph idx="12" type="sldNum"/>
          </p:nvPr>
        </p:nvSpPr>
        <p:spPr>
          <a:xfrm>
            <a:off x="6442997" y="4531022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 rot="5400000">
            <a:off x="4495662" y="1937249"/>
            <a:ext cx="3938700" cy="9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 rot="5400000">
            <a:off x="1186264" y="-220950"/>
            <a:ext cx="3938700" cy="52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29"/>
          <p:cNvSpPr txBox="1"/>
          <p:nvPr>
            <p:ph idx="12" type="sldNum"/>
          </p:nvPr>
        </p:nvSpPr>
        <p:spPr>
          <a:xfrm>
            <a:off x="6442997" y="4531022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0" y="-6350"/>
            <a:ext cx="9144100" cy="5149935"/>
            <a:chOff x="0" y="-8467"/>
            <a:chExt cx="12192133" cy="6866580"/>
          </a:xfrm>
        </p:grpSpPr>
        <p:cxnSp>
          <p:nvCxnSpPr>
            <p:cNvPr id="52" name="Google Shape;52;p13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715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" name="Google Shape;53;p13"/>
            <p:cNvCxnSpPr/>
            <p:nvPr/>
          </p:nvCxnSpPr>
          <p:spPr>
            <a:xfrm flipH="1">
              <a:off x="7425125" y="3681413"/>
              <a:ext cx="4763700" cy="3176700"/>
            </a:xfrm>
            <a:prstGeom prst="straightConnector1">
              <a:avLst/>
            </a:prstGeom>
            <a:noFill/>
            <a:ln cap="flat" cmpd="sng" w="7150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4" name="Google Shape;54;p13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0"/>
              </a:schemeClr>
            </a:solidFill>
            <a:ln>
              <a:noFill/>
            </a:ln>
          </p:spPr>
        </p:sp>
        <p:sp>
          <p:nvSpPr>
            <p:cNvPr id="55" name="Google Shape;55;p13"/>
            <p:cNvSpPr/>
            <p:nvPr/>
          </p:nvSpPr>
          <p:spPr>
            <a:xfrm>
              <a:off x="9603442" y="-8467"/>
              <a:ext cx="258617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56" name="Google Shape;56;p13"/>
            <p:cNvSpPr/>
            <p:nvPr/>
          </p:nvSpPr>
          <p:spPr>
            <a:xfrm>
              <a:off x="8932333" y="3048000"/>
              <a:ext cx="3259800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760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9334500" y="-8467"/>
              <a:ext cx="2850868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0"/>
              </a:srgbClr>
            </a:solidFill>
            <a:ln>
              <a:noFill/>
            </a:ln>
          </p:spPr>
        </p:sp>
        <p:sp>
          <p:nvSpPr>
            <p:cNvPr id="58" name="Google Shape;58;p13"/>
            <p:cNvSpPr/>
            <p:nvPr/>
          </p:nvSpPr>
          <p:spPr>
            <a:xfrm>
              <a:off x="10898730" y="-8467"/>
              <a:ext cx="1290094" cy="6858000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0"/>
              </a:srgbClr>
            </a:solidFill>
            <a:ln>
              <a:noFill/>
            </a:ln>
          </p:spPr>
        </p:sp>
        <p:sp>
          <p:nvSpPr>
            <p:cNvPr id="59" name="Google Shape;59;p13"/>
            <p:cNvSpPr/>
            <p:nvPr/>
          </p:nvSpPr>
          <p:spPr>
            <a:xfrm>
              <a:off x="10938999" y="-8467"/>
              <a:ext cx="1249825" cy="6858000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9"/>
              </a:schemeClr>
            </a:solidFill>
            <a:ln>
              <a:noFill/>
            </a:ln>
          </p:spPr>
        </p:sp>
        <p:sp>
          <p:nvSpPr>
            <p:cNvPr id="60" name="Google Shape;60;p13"/>
            <p:cNvSpPr/>
            <p:nvPr/>
          </p:nvSpPr>
          <p:spPr>
            <a:xfrm>
              <a:off x="10371666" y="3589867"/>
              <a:ext cx="1817100" cy="3268200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0" y="4013200"/>
              <a:ext cx="448800" cy="28449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710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13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b="0" i="0" sz="2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13"/>
          <p:cNvSpPr txBox="1"/>
          <p:nvPr>
            <p:ph idx="1" type="body"/>
          </p:nvPr>
        </p:nvSpPr>
        <p:spPr>
          <a:xfrm>
            <a:off x="508000" y="1620442"/>
            <a:ext cx="64476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marR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92100" lvl="1" marL="914400" marR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79400" lvl="2" marL="1371600" marR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►"/>
              <a:defRPr b="0" i="0" sz="11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73050" lvl="3" marL="1828800" marR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73050" lvl="4" marL="2286000" marR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73050" lvl="5" marL="2743200" marR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73050" lvl="6" marL="3200400" marR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73050" lvl="7" marL="3657600" marR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73050" lvl="8" marL="4114800" marR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7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7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12" type="sldNum"/>
          </p:nvPr>
        </p:nvSpPr>
        <p:spPr>
          <a:xfrm>
            <a:off x="6442997" y="4531022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ctrTitle"/>
          </p:nvPr>
        </p:nvSpPr>
        <p:spPr>
          <a:xfrm>
            <a:off x="672300" y="216499"/>
            <a:ext cx="7977900" cy="108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9090"/>
              <a:buFont typeface="Trebuchet MS"/>
              <a:buNone/>
            </a:pPr>
            <a:r>
              <a:rPr b="1" lang="en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Sentinels Vault : An Enterprise Grade Cryptographic Password Manager with Security Auditing</a:t>
            </a:r>
            <a:endParaRPr b="1"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89" name="Google Shape;189;p30"/>
          <p:cNvSpPr txBox="1"/>
          <p:nvPr/>
        </p:nvSpPr>
        <p:spPr>
          <a:xfrm>
            <a:off x="7084430" y="4660975"/>
            <a:ext cx="2020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MCA. [2024-26]</a:t>
            </a:r>
            <a:endParaRPr sz="1300"/>
          </a:p>
        </p:txBody>
      </p:sp>
      <p:sp>
        <p:nvSpPr>
          <p:cNvPr id="190" name="Google Shape;190;p30"/>
          <p:cNvSpPr txBox="1"/>
          <p:nvPr/>
        </p:nvSpPr>
        <p:spPr>
          <a:xfrm>
            <a:off x="2982301" y="2641350"/>
            <a:ext cx="3357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Supervisor : Prof. Lucy Dash </a:t>
            </a:r>
            <a:endParaRPr b="1" sz="17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1" name="Google Shape;191;p30"/>
          <p:cNvSpPr txBox="1"/>
          <p:nvPr>
            <p:ph type="ctrTitle"/>
          </p:nvPr>
        </p:nvSpPr>
        <p:spPr>
          <a:xfrm>
            <a:off x="1736675" y="1428925"/>
            <a:ext cx="5625300" cy="108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9090"/>
              <a:buFont typeface="Trebuchet MS"/>
              <a:buNone/>
            </a:pPr>
            <a:r>
              <a:rPr b="1" lang="en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Parineeta Deb</a:t>
            </a:r>
            <a:endParaRPr b="1"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9090"/>
              <a:buFont typeface="Trebuchet MS"/>
              <a:buNone/>
            </a:pPr>
            <a:r>
              <a:rPr b="1" lang="en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Roll Number : 2470472</a:t>
            </a:r>
            <a:endParaRPr b="1"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</p:txBody>
      </p:sp>
      <p:pic>
        <p:nvPicPr>
          <p:cNvPr id="192" name="Google Shape;19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875" y="4227975"/>
            <a:ext cx="3357800" cy="74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lang="en" sz="3600"/>
              <a:t>Abstract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508000" y="1331375"/>
            <a:ext cx="6447600" cy="336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SentinelsVault</a:t>
            </a: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local-first, zero-knowledge password manager designed to eliminate cloud-based vulnerabilities and ensure 100% user data ownership.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Implements </a:t>
            </a:r>
            <a:r>
              <a:rPr b="1"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AES-256 encryption</a:t>
            </a: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PBKDF2</a:t>
            </a: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key derivation to secure sensitive credentials within an ACID-compliant SQLite database.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Features a built-in </a:t>
            </a:r>
            <a:r>
              <a:rPr b="1"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Security Auditor</a:t>
            </a: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heuristic password strength analysis and </a:t>
            </a:r>
            <a:r>
              <a:rPr b="1"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Multi-Factor Authentication (MFA)</a:t>
            </a: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enhanced access control.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Utilizes a </a:t>
            </a:r>
            <a:r>
              <a:rPr b="1"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modular Python architecture</a:t>
            </a: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achieve a reduced remote attack surface while maintaining high performance and system integrity.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>
            <p:ph type="title"/>
          </p:nvPr>
        </p:nvSpPr>
        <p:spPr>
          <a:xfrm>
            <a:off x="508000" y="78325"/>
            <a:ext cx="6447600" cy="616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Related Works</a:t>
            </a:r>
            <a:endParaRPr sz="3200"/>
          </a:p>
        </p:txBody>
      </p:sp>
      <p:sp>
        <p:nvSpPr>
          <p:cNvPr id="204" name="Google Shape;204;p32"/>
          <p:cNvSpPr txBox="1"/>
          <p:nvPr>
            <p:ph idx="1" type="body"/>
          </p:nvPr>
        </p:nvSpPr>
        <p:spPr>
          <a:xfrm>
            <a:off x="508000" y="694525"/>
            <a:ext cx="7132500" cy="4318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Existing Works and Software: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Cloud-based Managers: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Google Password Manager, LastPass, and Dashlane.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Offline / Open-source Tools: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KeePassXC and Bitwarden (Self-hosted).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Drawbacks of Existing Solutions: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Cloud Vulnerability: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Popular cloud-based managers have a "Single Point of Failure." A server-side breach can expose user metadata or encrypted vaults to remote attackers.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Remote Attack Surface: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Constant synchronization requires an active internet connection, which increases exposure to network-based threats.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Passive Storage: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Most existing tools are "passive" vaults; they store passwords but do not proactively run </a:t>
            </a: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heuristic audits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detect weak entropy or reuse across different sites.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Trust &amp; Ownership: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Proprietary cloud systems require users to trust the provider's infrastructure. There is often no </a:t>
            </a: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Zero-Knowledge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guarantee that the provider cannot access metadata.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Lack of Custom Entropy: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Many tools do not allow "Power Users" to define specific security parameters like custom salt iterations (PBKDF2) for their local encryption.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 txBox="1"/>
          <p:nvPr>
            <p:ph type="title"/>
          </p:nvPr>
        </p:nvSpPr>
        <p:spPr>
          <a:xfrm>
            <a:off x="508000" y="119100"/>
            <a:ext cx="3556200" cy="669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" sz="3200"/>
              <a:t>Methodology</a:t>
            </a:r>
            <a:endParaRPr sz="2300"/>
          </a:p>
        </p:txBody>
      </p:sp>
      <p:sp>
        <p:nvSpPr>
          <p:cNvPr id="210" name="Google Shape;210;p33"/>
          <p:cNvSpPr txBox="1"/>
          <p:nvPr>
            <p:ph idx="1" type="body"/>
          </p:nvPr>
        </p:nvSpPr>
        <p:spPr>
          <a:xfrm>
            <a:off x="508000" y="788250"/>
            <a:ext cx="7320000" cy="415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 Development Methodology: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SDLC (Iterative Model):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Followed a structured Software Development Life Cycle, moving from detailed </a:t>
            </a: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SRS/SDD documentation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modular coding and unit testing.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Modular Architecture: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system is decoupled into five independent modules: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Auth Manager: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Handles PBKDF2 key derivation.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Crypto Engine: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Implements AES-256 encryption.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 Engine: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Manages ACID-compliant SQLite operations.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Security Auditor: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Performs heuristic strength analysis.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 UI: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Provides the interactive desktop interface.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Security &amp; Implementation Logic: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Zero-Knowledge Framework: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Designed so that the master key exists only in volatile memory (</a:t>
            </a: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RAM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and is never stored on disk or transmitted.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Cryptographic Standard: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Utilizes </a:t>
            </a: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AES-256 in GCM mode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ensure both data confidentiality and integrity (authenticated encryption).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Design: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Implemented a </a:t>
            </a: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3rd Normal Form (3NF)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relational schema in SQLite to ensure data atomicity and prevent redundancy.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Local-First Resilience: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Eliminated the "Remote Attack Surface" by restricting all data persistence to the host machine.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>
            <p:ph type="title"/>
          </p:nvPr>
        </p:nvSpPr>
        <p:spPr>
          <a:xfrm>
            <a:off x="508000" y="457200"/>
            <a:ext cx="4426800" cy="545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30"/>
              <a:t>Data Flow Diagram (Level 1)</a:t>
            </a:r>
            <a:endParaRPr sz="3230"/>
          </a:p>
        </p:txBody>
      </p:sp>
      <p:sp>
        <p:nvSpPr>
          <p:cNvPr id="216" name="Google Shape;216;p34"/>
          <p:cNvSpPr txBox="1"/>
          <p:nvPr>
            <p:ph idx="1" type="body"/>
          </p:nvPr>
        </p:nvSpPr>
        <p:spPr>
          <a:xfrm>
            <a:off x="508000" y="1109701"/>
            <a:ext cx="6447600" cy="342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225" y="1002600"/>
            <a:ext cx="7203525" cy="37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type="title"/>
          </p:nvPr>
        </p:nvSpPr>
        <p:spPr>
          <a:xfrm>
            <a:off x="508000" y="189325"/>
            <a:ext cx="5002800" cy="585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/>
              <a:t>Slide 6: Process Analysis </a:t>
            </a:r>
            <a:endParaRPr sz="3200"/>
          </a:p>
        </p:txBody>
      </p:sp>
      <p:sp>
        <p:nvSpPr>
          <p:cNvPr id="223" name="Google Shape;223;p35"/>
          <p:cNvSpPr txBox="1"/>
          <p:nvPr>
            <p:ph idx="1" type="body"/>
          </p:nvPr>
        </p:nvSpPr>
        <p:spPr>
          <a:xfrm>
            <a:off x="508000" y="1116450"/>
            <a:ext cx="7212900" cy="3703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Encryption Lifecycle:</a:t>
            </a:r>
            <a:r>
              <a:rPr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Describes the transformation of a plaintext Master Password into a 256-bit AES key using </a:t>
            </a:r>
            <a:r>
              <a:rPr b="1"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PBKDF2</a:t>
            </a:r>
            <a:r>
              <a:rPr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a unique salt.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Modular Isolation:</a:t>
            </a:r>
            <a:r>
              <a:rPr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Each process (Auth, CRUD, Crypto) is isolated into separate Python modules to prevent memory leaks and unauthorized data access.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 Integrity:</a:t>
            </a:r>
            <a:r>
              <a:rPr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Process 3.0 (Storage Engine) ensures all data saved to the SQLite </a:t>
            </a:r>
            <a:r>
              <a:rPr b="1"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BLOB</a:t>
            </a:r>
            <a:r>
              <a:rPr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field is already encrypted at the "Gatekeeper" level.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Real-time Auditing:</a:t>
            </a:r>
            <a:r>
              <a:rPr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Process 4.0 performs heuristic scans on the active vault to identify weak entropy or credential reuse across different sites.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>
            <p:ph type="title"/>
          </p:nvPr>
        </p:nvSpPr>
        <p:spPr>
          <a:xfrm>
            <a:off x="508000" y="55375"/>
            <a:ext cx="5109900" cy="53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Class Diagram</a:t>
            </a:r>
            <a:endParaRPr sz="3200"/>
          </a:p>
        </p:txBody>
      </p:sp>
      <p:sp>
        <p:nvSpPr>
          <p:cNvPr id="229" name="Google Shape;229;p36"/>
          <p:cNvSpPr txBox="1"/>
          <p:nvPr>
            <p:ph idx="1" type="body"/>
          </p:nvPr>
        </p:nvSpPr>
        <p:spPr>
          <a:xfrm>
            <a:off x="374050" y="763200"/>
            <a:ext cx="8004600" cy="43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075" y="587275"/>
            <a:ext cx="8579074" cy="455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/>
          <p:nvPr>
            <p:ph type="title"/>
          </p:nvPr>
        </p:nvSpPr>
        <p:spPr>
          <a:xfrm>
            <a:off x="508000" y="0"/>
            <a:ext cx="4239300" cy="585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Sequence Diagram</a:t>
            </a:r>
            <a:endParaRPr sz="3200"/>
          </a:p>
        </p:txBody>
      </p:sp>
      <p:sp>
        <p:nvSpPr>
          <p:cNvPr id="236" name="Google Shape;236;p37"/>
          <p:cNvSpPr txBox="1"/>
          <p:nvPr>
            <p:ph idx="1" type="body"/>
          </p:nvPr>
        </p:nvSpPr>
        <p:spPr>
          <a:xfrm>
            <a:off x="508000" y="937325"/>
            <a:ext cx="7413900" cy="4003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00" y="585600"/>
            <a:ext cx="7413901" cy="450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type="title"/>
          </p:nvPr>
        </p:nvSpPr>
        <p:spPr>
          <a:xfrm>
            <a:off x="508000" y="68750"/>
            <a:ext cx="4467000" cy="6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Key Security Modules</a:t>
            </a:r>
            <a:endParaRPr sz="3200"/>
          </a:p>
        </p:txBody>
      </p:sp>
      <p:sp>
        <p:nvSpPr>
          <p:cNvPr id="243" name="Google Shape;243;p38"/>
          <p:cNvSpPr txBox="1"/>
          <p:nvPr>
            <p:ph idx="1" type="body"/>
          </p:nvPr>
        </p:nvSpPr>
        <p:spPr>
          <a:xfrm>
            <a:off x="508000" y="721250"/>
            <a:ext cx="7306800" cy="427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Cryptographic Engine (AES-256 GCM)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Authenticated Encryption: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Implements </a:t>
            </a: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AES-256 in Galois/Counter Mode (GCM)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which provides both data confidentiality and authenticity (integrity checking).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Derivation (PBKDF2):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Converts the user's Master Password into a high-entropy 256-bit key using </a:t>
            </a: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PBKDF2-HMAC-SHA256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600,000+ iterations.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Salt &amp; Nonce Management: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 Uses a unique </a:t>
            </a: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16-byte Cryptographic Salt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every user to prevent Rainbow Table attacks.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Utilizes a unique </a:t>
            </a: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Initialization Vector (IV/Nonce)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every password entry to ensure the same password never produces the same ciphertext twice.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Security Auditor (Heuristic Logic)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Entropy Calculation: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Analyzes password strength based on character variety, length, and unpredictability (calculating bits of entropy).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Vulnerability Scanning: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Duplicate Detection: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Identifies reused passwords across different accounts to mitigate "Credential Stuffing" risks.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Dictionary Attack Prevention: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Cross-references entries against a local list of "10,000 Most Common Passwords."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 Reporting: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Generates an on-demand "Vault Health Report" without sending any unencrypted data to external servers.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title"/>
          </p:nvPr>
        </p:nvSpPr>
        <p:spPr>
          <a:xfrm>
            <a:off x="508000" y="162525"/>
            <a:ext cx="5150100" cy="62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Tools &amp; Technology</a:t>
            </a:r>
            <a:endParaRPr sz="3200"/>
          </a:p>
        </p:txBody>
      </p:sp>
      <p:sp>
        <p:nvSpPr>
          <p:cNvPr id="249" name="Google Shape;249;p39"/>
          <p:cNvSpPr txBox="1"/>
          <p:nvPr>
            <p:ph idx="1" type="body"/>
          </p:nvPr>
        </p:nvSpPr>
        <p:spPr>
          <a:xfrm>
            <a:off x="508000" y="734675"/>
            <a:ext cx="7655100" cy="4408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Programming &amp; Logic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 3.x: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Selected for its robust standard library and extensive support for high-level cryptographic implementations.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Object-Oriented Programming (OOP):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Used to build a modular architecture, ensuring clean separation between the UI, Logic, and Database layers.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Security &amp; Cryptography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cryptography</a:t>
            </a: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Library: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Utilized for industry-standard </a:t>
            </a: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AES-256 GCM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implementation. It provides the "Hazmat" (Hazardous Materials) layer for low-level primitive control and high-level symmetric encryption.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hashlib</a:t>
            </a: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Implements </a:t>
            </a: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PBKDF2-HMAC-SHA256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secure password "stretching" and hashing.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secrets</a:t>
            </a: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Python's dedicated module for generating cryptographically strong random numbers for Salts and Initialization Vectors (IVs).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Persistence &amp; UI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SQLite3: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 ACID-compliant, serverless relational database used for </a:t>
            </a: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Local-First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storage. Chosen for its zero-configuration requirement and file-based portability.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Tkinter / CustomTkinter: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Employed to develop a professional, cross-platform Desktop GUI that provides a seamless user experience while maintaining a low system resource footprint.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0"/>
          <p:cNvSpPr txBox="1"/>
          <p:nvPr>
            <p:ph type="title"/>
          </p:nvPr>
        </p:nvSpPr>
        <p:spPr>
          <a:xfrm>
            <a:off x="508000" y="68750"/>
            <a:ext cx="5712900" cy="62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Conclusion &amp; Future Scope</a:t>
            </a:r>
            <a:endParaRPr sz="3200"/>
          </a:p>
        </p:txBody>
      </p:sp>
      <p:sp>
        <p:nvSpPr>
          <p:cNvPr id="255" name="Google Shape;255;p40"/>
          <p:cNvSpPr txBox="1"/>
          <p:nvPr>
            <p:ph idx="1" type="body"/>
          </p:nvPr>
        </p:nvSpPr>
        <p:spPr>
          <a:xfrm>
            <a:off x="508000" y="614125"/>
            <a:ext cx="7547700" cy="4206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Secured Data Ownership: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SentinelsVault successfully implements a </a:t>
            </a: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Zero-Knowledge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architecture, ensuring that only the user has access to their sensitive credentials.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Modular Engineering: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strictly following a </a:t>
            </a: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modular design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 project achieves high maintainability and clearly separates core cryptographic logic from the user interface.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Proactive Defense: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Unlike traditional managers, the </a:t>
            </a: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Security Auditor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shifts the application from a passive storage tool to an active security intelligence system.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Optimized for local-first use, achieving decryption and search results in under </a:t>
            </a: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100ms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while maintaining a minimal system footprint.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Future Scope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Cross-Platform Cloud Sync: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Implementing </a:t>
            </a: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End-to-End Encrypted (E2EE)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synchronization via a personal Dropbox or Google Drive API for multi-device access.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Biometric Integration: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Adding support for </a:t>
            </a: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Windows Hello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Fingerprint scanning as an additional layer for Multi-Factor Authentication.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Browser Extensions: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Developing a companion extension to allow </a:t>
            </a: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Auto-fill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capabilities for web-based logins without compromising the local vault's security.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Dark Web Monitoring: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Integrating an API (like </a:t>
            </a:r>
            <a:r>
              <a:rPr i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Have I Been Pwned</a:t>
            </a: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to alert users if their email/credentials appear in global data breaches.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1"/>
          <p:cNvSpPr txBox="1"/>
          <p:nvPr>
            <p:ph type="title"/>
          </p:nvPr>
        </p:nvSpPr>
        <p:spPr>
          <a:xfrm>
            <a:off x="508000" y="82150"/>
            <a:ext cx="6447600" cy="598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References</a:t>
            </a:r>
            <a:endParaRPr sz="3200"/>
          </a:p>
        </p:txBody>
      </p:sp>
      <p:sp>
        <p:nvSpPr>
          <p:cNvPr id="261" name="Google Shape;261;p41"/>
          <p:cNvSpPr txBox="1"/>
          <p:nvPr>
            <p:ph idx="1" type="body"/>
          </p:nvPr>
        </p:nvSpPr>
        <p:spPr>
          <a:xfrm>
            <a:off x="508000" y="680950"/>
            <a:ext cx="7788900" cy="446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nternational Security Standards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NIST Special Publication 800-63B: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Digital Identity Guidelines – Authentication and Lifecycle Management. (Focus on PBKDF2 and salt entropy standards).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FIPS PUB 197: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Advanced Encryption Standard (AES) – Official Federal Information Processing Standards Publication.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OWASP Top 10: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Current security guidelines for credential management and broken access control prevention.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Technical Documentation &amp; Frameworks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 Cryptography Authority (PyCa):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Official documentation for the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cryptography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library (AES-GCM implementation).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SQLite Documentation: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"Atomic Commit in SQLite" – Reference for ACID compliance and data integrity.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 Software Foundation: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hashlib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secrets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module specifications for cryptographically strong random number generation.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Literature &amp; Research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 J. Menezes, P. C. van Oorschot, and S. A. Vanstone: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Handbook of Applied Cryptography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CRC Press (Reference for symmetric key management).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S. Burnett and S. Paine: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RSA Security's Official Guide to Cryptography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McGraw-Hill.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