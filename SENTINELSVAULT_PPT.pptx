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5"/>
  </p:handoutMasterIdLst>
  <p:sldIdLst>
    <p:sldId id="256" r:id="rId3"/>
    <p:sldId id="257" r:id="rId4"/>
    <p:sldId id="258" r:id="rId5"/>
    <p:sldId id="263" r:id="rId6"/>
    <p:sldId id="264" r:id="rId7"/>
    <p:sldId id="265" r:id="rId8"/>
    <p:sldId id="266" r:id="rId9"/>
    <p:sldId id="283" r:id="rId11"/>
    <p:sldId id="284" r:id="rId12"/>
    <p:sldId id="285" r:id="rId13"/>
    <p:sldId id="262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B6E1"/>
    <a:srgbClr val="2A428D"/>
    <a:srgbClr val="2632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2" autoAdjust="0"/>
    <p:restoredTop sz="94660"/>
  </p:normalViewPr>
  <p:slideViewPr>
    <p:cSldViewPr snapToGrid="0" showGuides="1">
      <p:cViewPr>
        <p:scale>
          <a:sx n="70" d="100"/>
          <a:sy n="70" d="100"/>
        </p:scale>
        <p:origin x="228" y="864"/>
      </p:cViewPr>
      <p:guideLst>
        <p:guide orient="horz" pos="2154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CED798-24A6-4160-A4DF-B0E5BB8236C2}" type="doc">
      <dgm:prSet loTypeId="list" loCatId="list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91F5AF42-2E8E-47F5-BC8E-D4C7FA9FA290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 u="sng">
              <a:latin typeface="Segoe UI" panose="020B0502040204020203" charset="0"/>
              <a:cs typeface="Segoe UI" panose="020B0502040204020203" charset="0"/>
            </a:rPr>
            <a:t>Master Authentication :</a:t>
          </a:r>
          <a:r>
            <a:rPr lang="en-US" altLang="en-US" sz="1800" u="sng">
              <a:latin typeface="Segoe UI" panose="020B0502040204020203" charset="0"/>
              <a:cs typeface="Segoe UI" panose="020B0502040204020203" charset="0"/>
            </a:rPr>
            <a:t/>
          </a:r>
          <a:endParaRPr lang="en-US" altLang="en-US" sz="1800" u="sng">
            <a:latin typeface="Segoe UI" panose="020B0502040204020203" charset="0"/>
            <a:cs typeface="Segoe UI" panose="020B0502040204020203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> Input :- Master password input + unique 16-byte Salt</a:t>
          </a: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/>
          </a:r>
          <a:endParaRPr lang="en-US" altLang="en-US" sz="1800">
            <a:latin typeface="Segoe UI" panose="020B0502040204020203" charset="0"/>
            <a:cs typeface="Segoe UI" panose="020B0502040204020203" charset="0"/>
          </a:endParaRPr>
        </a:p>
      </dgm:t>
    </dgm:pt>
    <dgm:pt modelId="{3A37C892-50B7-47F1-86AA-3FDF5EB4EE9B}" cxnId="{BA59F83B-FD85-4C5D-8F62-DE0E0E117838}" type="parTrans">
      <dgm:prSet/>
      <dgm:spPr/>
      <dgm:t>
        <a:bodyPr/>
        <a:p>
          <a:endParaRPr lang="en-US"/>
        </a:p>
      </dgm:t>
    </dgm:pt>
    <dgm:pt modelId="{63B1AD43-9D20-4050-A552-EF02B5A2392B}" cxnId="{BA59F83B-FD85-4C5D-8F62-DE0E0E117838}" type="sibTrans">
      <dgm:prSet/>
      <dgm:spPr/>
      <dgm:t>
        <a:bodyPr/>
        <a:p>
          <a:endParaRPr lang="en-US"/>
        </a:p>
      </dgm:t>
    </dgm:pt>
    <dgm:pt modelId="{280D5902-A14D-4C39-A125-DEF43C7815E8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 u="sng">
              <a:latin typeface="Segoe UI" panose="020B0502040204020203" charset="0"/>
              <a:cs typeface="Segoe UI" panose="020B0502040204020203" charset="0"/>
            </a:rPr>
            <a:t>Key Derivation :</a:t>
          </a: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> </a:t>
          </a: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/>
          </a:r>
          <a:endParaRPr lang="en-US" altLang="en-US" sz="1800">
            <a:latin typeface="Segoe UI" panose="020B0502040204020203" charset="0"/>
            <a:cs typeface="Segoe UI" panose="020B0502040204020203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>Process :- </a:t>
          </a: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>PBKDF2 iterations to generate a high-entropy 256-bit key.</a:t>
          </a: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/>
          </a:r>
          <a:endParaRPr lang="en-US" altLang="en-US" sz="1800">
            <a:latin typeface="Segoe UI" panose="020B0502040204020203" charset="0"/>
            <a:cs typeface="Segoe UI" panose="020B0502040204020203" charset="0"/>
          </a:endParaRPr>
        </a:p>
      </dgm:t>
    </dgm:pt>
    <dgm:pt modelId="{0BF6BCDE-F41A-4644-928D-D095CDC58CED}" cxnId="{906174E8-2E66-45E9-9592-7CA2DC1AC7EF}" type="parTrans">
      <dgm:prSet/>
      <dgm:spPr/>
      <dgm:t>
        <a:bodyPr/>
        <a:p>
          <a:endParaRPr lang="en-US"/>
        </a:p>
      </dgm:t>
    </dgm:pt>
    <dgm:pt modelId="{CC55538B-3B09-4E9F-877D-7D4FB05A20D8}" cxnId="{906174E8-2E66-45E9-9592-7CA2DC1AC7EF}" type="sibTrans">
      <dgm:prSet/>
      <dgm:spPr/>
      <dgm:t>
        <a:bodyPr/>
        <a:p>
          <a:endParaRPr lang="en-US"/>
        </a:p>
      </dgm:t>
    </dgm:pt>
    <dgm:pt modelId="{36E5B5FE-7A44-47A1-8F92-B088257A2152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 u="sng">
              <a:latin typeface="Segoe UI" panose="020B0502040204020203" charset="0"/>
              <a:cs typeface="Segoe UI" panose="020B0502040204020203" charset="0"/>
            </a:rPr>
            <a:t>Secure Storage: </a:t>
          </a:r>
          <a:r>
            <a:rPr lang="en-US" altLang="en-US" sz="1800" u="sng">
              <a:latin typeface="Segoe UI" panose="020B0502040204020203" charset="0"/>
              <a:cs typeface="Segoe UI" panose="020B0502040204020203" charset="0"/>
            </a:rPr>
            <a:t/>
          </a:r>
          <a:endParaRPr lang="en-US" altLang="en-US" sz="1800" u="sng">
            <a:latin typeface="Segoe UI" panose="020B0502040204020203" charset="0"/>
            <a:cs typeface="Segoe UI" panose="020B0502040204020203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>Output :- </a:t>
          </a: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>Encrypted BLOB data committed to SQLite3 database.</a:t>
          </a: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/>
          </a:r>
          <a:endParaRPr lang="en-US" altLang="en-US" sz="1800">
            <a:latin typeface="Segoe UI" panose="020B0502040204020203" charset="0"/>
            <a:cs typeface="Segoe UI" panose="020B0502040204020203" charset="0"/>
          </a:endParaRPr>
        </a:p>
      </dgm:t>
    </dgm:pt>
    <dgm:pt modelId="{7926F024-4AEC-4671-BBB1-3CE0B2112B8B}" cxnId="{ECDD91D7-EE38-4E42-A12D-034D0A10EB7A}" type="parTrans">
      <dgm:prSet/>
      <dgm:spPr/>
      <dgm:t>
        <a:bodyPr/>
        <a:p>
          <a:endParaRPr lang="en-US"/>
        </a:p>
      </dgm:t>
    </dgm:pt>
    <dgm:pt modelId="{BC0418CD-7831-4545-B1D9-93D351CF53C3}" cxnId="{ECDD91D7-EE38-4E42-A12D-034D0A10EB7A}" type="sibTrans">
      <dgm:prSet/>
      <dgm:spPr/>
      <dgm:t>
        <a:bodyPr/>
        <a:p>
          <a:endParaRPr lang="en-US"/>
        </a:p>
      </dgm:t>
    </dgm:pt>
    <dgm:pt modelId="{0C7D3D51-F412-476C-9C1C-D9011C5FB7E6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 u="sng">
              <a:latin typeface="Segoe UI" panose="020B0502040204020203" charset="0"/>
              <a:cs typeface="Segoe UI" panose="020B0502040204020203" charset="0"/>
            </a:rPr>
            <a:t>Cryptographic Engine : </a:t>
          </a: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/>
          </a:r>
          <a:endParaRPr lang="en-US" altLang="en-US" sz="1800">
            <a:latin typeface="Segoe UI" panose="020B0502040204020203" charset="0"/>
            <a:cs typeface="Segoe UI" panose="020B0502040204020203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>Operation:- </a:t>
          </a: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>AES-256 (GCM Mode) for secure and authenticated encryption/decryption.</a:t>
          </a: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/>
          </a:r>
          <a:endParaRPr lang="en-US" altLang="en-US" sz="1800">
            <a:latin typeface="Segoe UI" panose="020B0502040204020203" charset="0"/>
            <a:cs typeface="Segoe UI" panose="020B0502040204020203" charset="0"/>
          </a:endParaRPr>
        </a:p>
      </dgm:t>
    </dgm:pt>
    <dgm:pt modelId="{400E46CD-A113-4830-88F5-A1B2F4D84554}" cxnId="{8471E090-37B0-47EE-ADB6-24C5878ECBF6}" type="parTrans">
      <dgm:prSet/>
      <dgm:spPr/>
      <dgm:t>
        <a:bodyPr/>
        <a:p>
          <a:endParaRPr lang="en-US"/>
        </a:p>
      </dgm:t>
    </dgm:pt>
    <dgm:pt modelId="{F5A1DABB-6DD6-47EE-99A8-4582EBF4C827}" cxnId="{8471E090-37B0-47EE-ADB6-24C5878ECBF6}" type="sibTrans">
      <dgm:prSet/>
      <dgm:spPr/>
      <dgm:t>
        <a:bodyPr/>
        <a:p>
          <a:endParaRPr lang="en-US"/>
        </a:p>
      </dgm:t>
    </dgm:pt>
    <dgm:pt modelId="{D82838E6-C31C-4EBD-B58C-0C991331B678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 u="sng">
              <a:latin typeface="Segoe UI" panose="020B0502040204020203" charset="0"/>
              <a:cs typeface="Segoe UI" panose="020B0502040204020203" charset="0"/>
            </a:rPr>
            <a:t>Security Auditor</a:t>
          </a:r>
          <a:r>
            <a:rPr lang="en-US" altLang="en-US" sz="1800" u="sng">
              <a:latin typeface="Segoe UI" panose="020B0502040204020203" charset="0"/>
              <a:cs typeface="Segoe UI" panose="020B0502040204020203" charset="0"/>
            </a:rPr>
            <a:t>: </a:t>
          </a:r>
          <a:r>
            <a:rPr lang="en-US" altLang="en-US" sz="1800" u="sng">
              <a:latin typeface="Segoe UI" panose="020B0502040204020203" charset="0"/>
              <a:cs typeface="Segoe UI" panose="020B0502040204020203" charset="0"/>
            </a:rPr>
            <a:t/>
          </a:r>
          <a:endParaRPr lang="en-US" altLang="en-US" sz="1800" u="sng">
            <a:latin typeface="Segoe UI" panose="020B0502040204020203" charset="0"/>
            <a:cs typeface="Segoe UI" panose="020B0502040204020203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>Function :- </a:t>
          </a: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>Automated scanning for weak/reused passwords and MFA status reporting.</a:t>
          </a: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/>
          </a:r>
          <a:endParaRPr lang="en-US" altLang="en-US" sz="1800">
            <a:latin typeface="Segoe UI" panose="020B0502040204020203" charset="0"/>
            <a:cs typeface="Segoe UI" panose="020B0502040204020203" charset="0"/>
          </a:endParaRPr>
        </a:p>
      </dgm:t>
    </dgm:pt>
    <dgm:pt modelId="{DC284D5C-B7A8-4E26-BDF6-E69402B2873F}" cxnId="{C4069F67-EBCE-4CE6-85BD-8EFFEAA00FF0}" type="parTrans">
      <dgm:prSet/>
      <dgm:spPr/>
      <dgm:t>
        <a:bodyPr/>
        <a:p>
          <a:endParaRPr lang="en-US"/>
        </a:p>
      </dgm:t>
    </dgm:pt>
    <dgm:pt modelId="{74B5F767-2303-4D5A-8FD7-570D52523413}" cxnId="{C4069F67-EBCE-4CE6-85BD-8EFFEAA00FF0}" type="sibTrans">
      <dgm:prSet/>
      <dgm:spPr/>
      <dgm:t>
        <a:bodyPr/>
        <a:p>
          <a:endParaRPr lang="en-US"/>
        </a:p>
      </dgm:t>
    </dgm:pt>
    <dgm:pt modelId="{906887FB-01DE-46E1-9312-97F8DF38EE6D}" type="pres">
      <dgm:prSet presAssocID="{98CED798-24A6-4160-A4DF-B0E5BB8236C2}" presName="diagram" presStyleCnt="0">
        <dgm:presLayoutVars>
          <dgm:dir/>
          <dgm:resizeHandles val="exact"/>
        </dgm:presLayoutVars>
      </dgm:prSet>
      <dgm:spPr/>
    </dgm:pt>
    <dgm:pt modelId="{8EA24BC0-0B8D-42E9-A25F-7CA5AD90CCA1}" type="pres">
      <dgm:prSet presAssocID="{91F5AF42-2E8E-47F5-BC8E-D4C7FA9FA290}" presName="node" presStyleLbl="node1" presStyleIdx="0" presStyleCnt="5" custLinFactNeighborX="-30324" custLinFactNeighborY="-262">
        <dgm:presLayoutVars>
          <dgm:bulletEnabled val="1"/>
        </dgm:presLayoutVars>
      </dgm:prSet>
      <dgm:spPr/>
    </dgm:pt>
    <dgm:pt modelId="{6C2FC485-DEBF-4CB8-855D-A9838793F3F3}" type="pres">
      <dgm:prSet presAssocID="{63B1AD43-9D20-4050-A552-EF02B5A2392B}" presName="sibTrans" presStyleCnt="0"/>
      <dgm:spPr/>
    </dgm:pt>
    <dgm:pt modelId="{A3974D1E-D32E-47DA-BFE3-BD66226FC69C}" type="pres">
      <dgm:prSet presAssocID="{280D5902-A14D-4C39-A125-DEF43C7815E8}" presName="node" presStyleLbl="node1" presStyleIdx="1" presStyleCnt="5" custLinFactNeighborX="28858" custLinFactNeighborY="-262">
        <dgm:presLayoutVars>
          <dgm:bulletEnabled val="1"/>
        </dgm:presLayoutVars>
      </dgm:prSet>
      <dgm:spPr/>
    </dgm:pt>
    <dgm:pt modelId="{2F2E690F-0370-4CE7-99EA-691838C9081B}" type="pres">
      <dgm:prSet presAssocID="{CC55538B-3B09-4E9F-877D-7D4FB05A20D8}" presName="sibTrans" presStyleCnt="0"/>
      <dgm:spPr/>
    </dgm:pt>
    <dgm:pt modelId="{D62CCB3D-C0B5-4702-B0E7-2BCC3AC6BED6}" type="pres">
      <dgm:prSet presAssocID="{36E5B5FE-7A44-47A1-8F92-B088257A2152}" presName="node" presStyleLbl="node1" presStyleIdx="2" presStyleCnt="5" custLinFactNeighborX="-26347" custLinFactNeighborY="43">
        <dgm:presLayoutVars>
          <dgm:bulletEnabled val="1"/>
        </dgm:presLayoutVars>
      </dgm:prSet>
      <dgm:spPr/>
    </dgm:pt>
    <dgm:pt modelId="{41E36F34-9D51-413F-8CB8-323CFB9F70DD}" type="pres">
      <dgm:prSet presAssocID="{BC0418CD-7831-4545-B1D9-93D351CF53C3}" presName="sibTrans" presStyleCnt="0"/>
      <dgm:spPr/>
    </dgm:pt>
    <dgm:pt modelId="{65DCAB72-4323-4909-83B5-EA97756B63D0}" type="pres">
      <dgm:prSet presAssocID="{0C7D3D51-F412-476C-9C1C-D9011C5FB7E6}" presName="node" presStyleLbl="node1" presStyleIdx="3" presStyleCnt="5" custLinFactNeighborX="31815" custLinFactNeighborY="43">
        <dgm:presLayoutVars>
          <dgm:bulletEnabled val="1"/>
        </dgm:presLayoutVars>
      </dgm:prSet>
      <dgm:spPr/>
    </dgm:pt>
    <dgm:pt modelId="{B95B399B-B4B9-4137-9378-9EB29B8F4BD6}" type="pres">
      <dgm:prSet presAssocID="{F5A1DABB-6DD6-47EE-99A8-4582EBF4C827}" presName="sibTrans" presStyleCnt="0"/>
      <dgm:spPr/>
    </dgm:pt>
    <dgm:pt modelId="{52FDF2A5-21FC-4943-A856-33657F608538}" type="pres">
      <dgm:prSet presAssocID="{D82838E6-C31C-4EBD-B58C-0C991331B678}" presName="node" presStyleLbl="node1" presStyleIdx="4" presStyleCnt="5" custScaleX="117534" custScaleY="105771">
        <dgm:presLayoutVars>
          <dgm:bulletEnabled val="1"/>
        </dgm:presLayoutVars>
      </dgm:prSet>
      <dgm:spPr/>
    </dgm:pt>
  </dgm:ptLst>
  <dgm:cxnLst>
    <dgm:cxn modelId="{BA59F83B-FD85-4C5D-8F62-DE0E0E117838}" srcId="{98CED798-24A6-4160-A4DF-B0E5BB8236C2}" destId="{91F5AF42-2E8E-47F5-BC8E-D4C7FA9FA290}" srcOrd="0" destOrd="0" parTransId="{3A37C892-50B7-47F1-86AA-3FDF5EB4EE9B}" sibTransId="{63B1AD43-9D20-4050-A552-EF02B5A2392B}"/>
    <dgm:cxn modelId="{906174E8-2E66-45E9-9592-7CA2DC1AC7EF}" srcId="{98CED798-24A6-4160-A4DF-B0E5BB8236C2}" destId="{280D5902-A14D-4C39-A125-DEF43C7815E8}" srcOrd="1" destOrd="0" parTransId="{0BF6BCDE-F41A-4644-928D-D095CDC58CED}" sibTransId="{CC55538B-3B09-4E9F-877D-7D4FB05A20D8}"/>
    <dgm:cxn modelId="{ECDD91D7-EE38-4E42-A12D-034D0A10EB7A}" srcId="{98CED798-24A6-4160-A4DF-B0E5BB8236C2}" destId="{36E5B5FE-7A44-47A1-8F92-B088257A2152}" srcOrd="2" destOrd="0" parTransId="{7926F024-4AEC-4671-BBB1-3CE0B2112B8B}" sibTransId="{BC0418CD-7831-4545-B1D9-93D351CF53C3}"/>
    <dgm:cxn modelId="{8471E090-37B0-47EE-ADB6-24C5878ECBF6}" srcId="{98CED798-24A6-4160-A4DF-B0E5BB8236C2}" destId="{0C7D3D51-F412-476C-9C1C-D9011C5FB7E6}" srcOrd="3" destOrd="0" parTransId="{400E46CD-A113-4830-88F5-A1B2F4D84554}" sibTransId="{F5A1DABB-6DD6-47EE-99A8-4582EBF4C827}"/>
    <dgm:cxn modelId="{C4069F67-EBCE-4CE6-85BD-8EFFEAA00FF0}" srcId="{98CED798-24A6-4160-A4DF-B0E5BB8236C2}" destId="{D82838E6-C31C-4EBD-B58C-0C991331B678}" srcOrd="4" destOrd="0" parTransId="{DC284D5C-B7A8-4E26-BDF6-E69402B2873F}" sibTransId="{74B5F767-2303-4D5A-8FD7-570D52523413}"/>
    <dgm:cxn modelId="{0439CB00-5640-4B99-922A-63DDA0160A7C}" type="presOf" srcId="{98CED798-24A6-4160-A4DF-B0E5BB8236C2}" destId="{906887FB-01DE-46E1-9312-97F8DF38EE6D}" srcOrd="0" destOrd="0" presId="urn:microsoft.com/office/officeart/2005/8/layout/default"/>
    <dgm:cxn modelId="{2F7C15E1-499E-4A93-BAD2-32830FB384D6}" type="presParOf" srcId="{906887FB-01DE-46E1-9312-97F8DF38EE6D}" destId="{8EA24BC0-0B8D-42E9-A25F-7CA5AD90CCA1}" srcOrd="0" destOrd="0" presId="urn:microsoft.com/office/officeart/2005/8/layout/default"/>
    <dgm:cxn modelId="{5649E4AB-44B6-4E01-A194-9B24955069CC}" type="presOf" srcId="{91F5AF42-2E8E-47F5-BC8E-D4C7FA9FA290}" destId="{8EA24BC0-0B8D-42E9-A25F-7CA5AD90CCA1}" srcOrd="0" destOrd="0" presId="urn:microsoft.com/office/officeart/2005/8/layout/default"/>
    <dgm:cxn modelId="{25273C8D-DFF7-4F82-A728-49587B8A4C83}" type="presParOf" srcId="{906887FB-01DE-46E1-9312-97F8DF38EE6D}" destId="{6C2FC485-DEBF-4CB8-855D-A9838793F3F3}" srcOrd="1" destOrd="0" presId="urn:microsoft.com/office/officeart/2005/8/layout/default"/>
    <dgm:cxn modelId="{D04BB15D-C880-439E-BCA5-B77C14E734BB}" type="presParOf" srcId="{906887FB-01DE-46E1-9312-97F8DF38EE6D}" destId="{A3974D1E-D32E-47DA-BFE3-BD66226FC69C}" srcOrd="2" destOrd="0" presId="urn:microsoft.com/office/officeart/2005/8/layout/default"/>
    <dgm:cxn modelId="{AA54AD40-D73D-40AE-8D08-45C0E912EA16}" type="presOf" srcId="{280D5902-A14D-4C39-A125-DEF43C7815E8}" destId="{A3974D1E-D32E-47DA-BFE3-BD66226FC69C}" srcOrd="0" destOrd="0" presId="urn:microsoft.com/office/officeart/2005/8/layout/default"/>
    <dgm:cxn modelId="{EC9CA22C-4760-42FA-ADD7-4CEE0E35FFD0}" type="presParOf" srcId="{906887FB-01DE-46E1-9312-97F8DF38EE6D}" destId="{2F2E690F-0370-4CE7-99EA-691838C9081B}" srcOrd="3" destOrd="0" presId="urn:microsoft.com/office/officeart/2005/8/layout/default"/>
    <dgm:cxn modelId="{0EF7BBB6-C9CA-413E-9981-B760708D8C3B}" type="presParOf" srcId="{906887FB-01DE-46E1-9312-97F8DF38EE6D}" destId="{D62CCB3D-C0B5-4702-B0E7-2BCC3AC6BED6}" srcOrd="4" destOrd="0" presId="urn:microsoft.com/office/officeart/2005/8/layout/default"/>
    <dgm:cxn modelId="{A36843AE-A222-4A07-98F2-608BF257330D}" type="presOf" srcId="{36E5B5FE-7A44-47A1-8F92-B088257A2152}" destId="{D62CCB3D-C0B5-4702-B0E7-2BCC3AC6BED6}" srcOrd="0" destOrd="0" presId="urn:microsoft.com/office/officeart/2005/8/layout/default"/>
    <dgm:cxn modelId="{5E5A261B-928A-48F4-A5D9-D75A1F6E5591}" type="presParOf" srcId="{906887FB-01DE-46E1-9312-97F8DF38EE6D}" destId="{41E36F34-9D51-413F-8CB8-323CFB9F70DD}" srcOrd="5" destOrd="0" presId="urn:microsoft.com/office/officeart/2005/8/layout/default"/>
    <dgm:cxn modelId="{980A6F60-0723-4817-991C-CC023F37CA13}" type="presParOf" srcId="{906887FB-01DE-46E1-9312-97F8DF38EE6D}" destId="{65DCAB72-4323-4909-83B5-EA97756B63D0}" srcOrd="6" destOrd="0" presId="urn:microsoft.com/office/officeart/2005/8/layout/default"/>
    <dgm:cxn modelId="{FA70CF99-4B8C-4B21-8CA8-7CD54FAE254D}" type="presOf" srcId="{0C7D3D51-F412-476C-9C1C-D9011C5FB7E6}" destId="{65DCAB72-4323-4909-83B5-EA97756B63D0}" srcOrd="0" destOrd="0" presId="urn:microsoft.com/office/officeart/2005/8/layout/default"/>
    <dgm:cxn modelId="{61EA79EA-92DE-4274-8A06-109FF842AD57}" type="presParOf" srcId="{906887FB-01DE-46E1-9312-97F8DF38EE6D}" destId="{B95B399B-B4B9-4137-9378-9EB29B8F4BD6}" srcOrd="7" destOrd="0" presId="urn:microsoft.com/office/officeart/2005/8/layout/default"/>
    <dgm:cxn modelId="{E02CBDF3-6448-4E4F-B085-C8CCF767BF08}" type="presParOf" srcId="{906887FB-01DE-46E1-9312-97F8DF38EE6D}" destId="{52FDF2A5-21FC-4943-A856-33657F608538}" srcOrd="8" destOrd="0" presId="urn:microsoft.com/office/officeart/2005/8/layout/default"/>
    <dgm:cxn modelId="{C30A6861-9D61-47E0-9D43-3BA882A63703}" type="presOf" srcId="{D82838E6-C31C-4EBD-B58C-0C991331B678}" destId="{52FDF2A5-21FC-4943-A856-33657F608538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7635240" cy="5172075"/>
        <a:chOff x="0" y="0"/>
        <a:chExt cx="7635240" cy="5172075"/>
      </a:xfrm>
    </dsp:grpSpPr>
    <dsp:sp modelId="{8EA24BC0-0B8D-42E9-A25F-7CA5AD90CCA1}">
      <dsp:nvSpPr>
        <dsp:cNvPr id="3" name="Rectangles 2"/>
        <dsp:cNvSpPr/>
      </dsp:nvSpPr>
      <dsp:spPr bwMode="white">
        <a:xfrm>
          <a:off x="381359" y="0"/>
          <a:ext cx="2540730" cy="1524438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 u="sng">
              <a:latin typeface="Segoe UI" panose="020B0502040204020203" charset="0"/>
              <a:cs typeface="Segoe UI" panose="020B0502040204020203" charset="0"/>
            </a:rPr>
            <a:t>Master Authentication :</a:t>
          </a:r>
          <a:endParaRPr lang="en-US" altLang="en-US" sz="1800" u="sng">
            <a:latin typeface="Segoe UI" panose="020B0502040204020203" charset="0"/>
            <a:cs typeface="Segoe UI" panose="020B0502040204020203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> Input :- Master password input + unique 16-byte Salt</a:t>
          </a:r>
          <a:endParaRPr lang="en-US" altLang="en-US" sz="1800">
            <a:latin typeface="Segoe UI" panose="020B0502040204020203" charset="0"/>
            <a:cs typeface="Segoe UI" panose="020B0502040204020203" charset="0"/>
          </a:endParaRPr>
        </a:p>
      </dsp:txBody>
      <dsp:txXfrm>
        <a:off x="381359" y="0"/>
        <a:ext cx="2540730" cy="1524438"/>
      </dsp:txXfrm>
    </dsp:sp>
    <dsp:sp modelId="{A3974D1E-D32E-47DA-BFE3-BD66226FC69C}">
      <dsp:nvSpPr>
        <dsp:cNvPr id="4" name="Rectangles 3"/>
        <dsp:cNvSpPr/>
      </dsp:nvSpPr>
      <dsp:spPr bwMode="white">
        <a:xfrm>
          <a:off x="4679818" y="0"/>
          <a:ext cx="2540730" cy="1524438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8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 u="sng">
              <a:latin typeface="Segoe UI" panose="020B0502040204020203" charset="0"/>
              <a:cs typeface="Segoe UI" panose="020B0502040204020203" charset="0"/>
            </a:rPr>
            <a:t>Key Derivation :</a:t>
          </a: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> </a:t>
          </a:r>
          <a:endParaRPr lang="en-US" altLang="en-US" sz="1800">
            <a:latin typeface="Segoe UI" panose="020B0502040204020203" charset="0"/>
            <a:cs typeface="Segoe UI" panose="020B0502040204020203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>Process :- </a:t>
          </a: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>PBKDF2 iterations to generate a high-entropy 256-bit key.</a:t>
          </a:r>
          <a:endParaRPr lang="en-US" altLang="en-US" sz="1800">
            <a:latin typeface="Segoe UI" panose="020B0502040204020203" charset="0"/>
            <a:cs typeface="Segoe UI" panose="020B0502040204020203" charset="0"/>
          </a:endParaRPr>
        </a:p>
      </dsp:txBody>
      <dsp:txXfrm>
        <a:off x="4679818" y="0"/>
        <a:ext cx="2540730" cy="1524438"/>
      </dsp:txXfrm>
    </dsp:sp>
    <dsp:sp modelId="{D62CCB3D-C0B5-4702-B0E7-2BCC3AC6BED6}">
      <dsp:nvSpPr>
        <dsp:cNvPr id="5" name="Rectangles 4"/>
        <dsp:cNvSpPr/>
      </dsp:nvSpPr>
      <dsp:spPr bwMode="white">
        <a:xfrm>
          <a:off x="482404" y="1780518"/>
          <a:ext cx="2540730" cy="1524438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 u="sng">
              <a:latin typeface="Segoe UI" panose="020B0502040204020203" charset="0"/>
              <a:cs typeface="Segoe UI" panose="020B0502040204020203" charset="0"/>
            </a:rPr>
            <a:t>Secure Storage: </a:t>
          </a:r>
          <a:endParaRPr lang="en-US" altLang="en-US" sz="1800" u="sng">
            <a:latin typeface="Segoe UI" panose="020B0502040204020203" charset="0"/>
            <a:cs typeface="Segoe UI" panose="020B0502040204020203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>Output :- </a:t>
          </a: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>Encrypted BLOB data committed to SQLite3 database.</a:t>
          </a:r>
          <a:endParaRPr lang="en-US" altLang="en-US" sz="1800">
            <a:latin typeface="Segoe UI" panose="020B0502040204020203" charset="0"/>
            <a:cs typeface="Segoe UI" panose="020B0502040204020203" charset="0"/>
          </a:endParaRPr>
        </a:p>
      </dsp:txBody>
      <dsp:txXfrm>
        <a:off x="482404" y="1780518"/>
        <a:ext cx="2540730" cy="1524438"/>
      </dsp:txXfrm>
    </dsp:sp>
    <dsp:sp modelId="{65DCAB72-4323-4909-83B5-EA97756B63D0}">
      <dsp:nvSpPr>
        <dsp:cNvPr id="6" name="Rectangles 5"/>
        <dsp:cNvSpPr/>
      </dsp:nvSpPr>
      <dsp:spPr bwMode="white">
        <a:xfrm>
          <a:off x="4754947" y="1780518"/>
          <a:ext cx="2540730" cy="1524438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6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 u="sng">
              <a:latin typeface="Segoe UI" panose="020B0502040204020203" charset="0"/>
              <a:cs typeface="Segoe UI" panose="020B0502040204020203" charset="0"/>
            </a:rPr>
            <a:t>Cryptographic Engine : </a:t>
          </a:r>
          <a:endParaRPr lang="en-US" altLang="en-US" sz="1800">
            <a:latin typeface="Segoe UI" panose="020B0502040204020203" charset="0"/>
            <a:cs typeface="Segoe UI" panose="020B0502040204020203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>Operation:- </a:t>
          </a: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>AES-256 (GCM Mode) for secure and authenticated encryption/decryption.</a:t>
          </a:r>
          <a:endParaRPr lang="en-US" altLang="en-US" sz="1800">
            <a:latin typeface="Segoe UI" panose="020B0502040204020203" charset="0"/>
            <a:cs typeface="Segoe UI" panose="020B0502040204020203" charset="0"/>
          </a:endParaRPr>
        </a:p>
      </dsp:txBody>
      <dsp:txXfrm>
        <a:off x="4754947" y="1780518"/>
        <a:ext cx="2540730" cy="1524438"/>
      </dsp:txXfrm>
    </dsp:sp>
    <dsp:sp modelId="{52FDF2A5-21FC-4943-A856-33657F608538}">
      <dsp:nvSpPr>
        <dsp:cNvPr id="7" name="Rectangles 6"/>
        <dsp:cNvSpPr/>
      </dsp:nvSpPr>
      <dsp:spPr bwMode="white">
        <a:xfrm>
          <a:off x="2325604" y="3557224"/>
          <a:ext cx="2986222" cy="1612414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 u="sng">
              <a:latin typeface="Segoe UI" panose="020B0502040204020203" charset="0"/>
              <a:cs typeface="Segoe UI" panose="020B0502040204020203" charset="0"/>
            </a:rPr>
            <a:t>Security Auditor</a:t>
          </a:r>
          <a:r>
            <a:rPr lang="en-US" altLang="en-US" sz="1800" u="sng">
              <a:latin typeface="Segoe UI" panose="020B0502040204020203" charset="0"/>
              <a:cs typeface="Segoe UI" panose="020B0502040204020203" charset="0"/>
            </a:rPr>
            <a:t>: </a:t>
          </a:r>
          <a:endParaRPr lang="en-US" altLang="en-US" sz="1800" u="sng">
            <a:latin typeface="Segoe UI" panose="020B0502040204020203" charset="0"/>
            <a:cs typeface="Segoe UI" panose="020B0502040204020203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>Function :- </a:t>
          </a:r>
          <a:r>
            <a:rPr lang="en-US" altLang="en-US" sz="1800">
              <a:latin typeface="Segoe UI" panose="020B0502040204020203" charset="0"/>
              <a:cs typeface="Segoe UI" panose="020B0502040204020203" charset="0"/>
            </a:rPr>
            <a:t>Automated scanning for weak/reused passwords and MFA status reporting.</a:t>
          </a:r>
          <a:endParaRPr lang="en-US" altLang="en-US" sz="1800">
            <a:latin typeface="Segoe UI" panose="020B0502040204020203" charset="0"/>
            <a:cs typeface="Segoe UI" panose="020B0502040204020203" charset="0"/>
          </a:endParaRPr>
        </a:p>
      </dsp:txBody>
      <dsp:txXfrm>
        <a:off x="2325604" y="3557224"/>
        <a:ext cx="2986222" cy="16124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Click to edit Master text style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D279-13C2-47B7-97FB-F8E7CCA9F9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E4C2D-8B68-445C-AE43-384C9DAECB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D279-13C2-47B7-97FB-F8E7CCA9F9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E4C2D-8B68-445C-AE43-384C9DAECB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D279-13C2-47B7-97FB-F8E7CCA9F9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E4C2D-8B68-445C-AE43-384C9DAECB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defRPr>
            </a:lvl1pPr>
          </a:lstStyle>
          <a:p>
            <a:fld id="{E4F0D279-13C2-47B7-97FB-F8E7CCA9F9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defRPr>
            </a:lvl1pPr>
          </a:lstStyle>
          <a:p>
            <a:fld id="{51AE4C2D-8B68-445C-AE43-384C9DAECB9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imSun" panose="02010600030101010101" pitchFamily="2" charset="-122"/>
          <a:ea typeface="SimSun" panose="0201060003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imSun" panose="02010600030101010101" pitchFamily="2" charset="-122"/>
          <a:ea typeface="SimSun" panose="02010600030101010101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imSun" panose="02010600030101010101" pitchFamily="2" charset="-122"/>
          <a:ea typeface="SimSun" panose="0201060003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imSun" panose="02010600030101010101" pitchFamily="2" charset="-122"/>
          <a:ea typeface="SimSun" panose="02010600030101010101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imSun" panose="02010600030101010101" pitchFamily="2" charset="-122"/>
          <a:ea typeface="SimSun" panose="02010600030101010101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imSun" panose="02010600030101010101" pitchFamily="2" charset="-122"/>
          <a:ea typeface="SimSun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5" Type="http://schemas.openxmlformats.org/officeDocument/2006/relationships/slideLayout" Target="../slideLayouts/slideLayout3.xml"/><Relationship Id="rId24" Type="http://schemas.openxmlformats.org/officeDocument/2006/relationships/tags" Target="../tags/tag33.xml"/><Relationship Id="rId23" Type="http://schemas.openxmlformats.org/officeDocument/2006/relationships/tags" Target="../tags/tag32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1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0" t="117" r="4587" b="4065"/>
          <a:stretch>
            <a:fillRect/>
          </a:stretch>
        </p:blipFill>
        <p:spPr>
          <a:xfrm rot="5400000">
            <a:off x="2506183" y="-2544285"/>
            <a:ext cx="7141531" cy="1223010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634534" y="2313009"/>
            <a:ext cx="6948805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US" sz="8000" b="1" dirty="0" smtClean="0">
                <a:solidFill>
                  <a:schemeClr val="bg1"/>
                </a:solidFill>
                <a:latin typeface="Segoe UI" panose="020B0502040204020203" charset="0"/>
                <a:ea typeface="Microsoft YaHei" panose="020B0503020204020204" pitchFamily="34" charset="-122"/>
                <a:cs typeface="Segoe UI" panose="020B0502040204020203" charset="0"/>
              </a:rPr>
              <a:t>SentinelsVault</a:t>
            </a:r>
            <a:endParaRPr lang="en-US" altLang="en-US" sz="8000" b="1" dirty="0" smtClean="0">
              <a:solidFill>
                <a:schemeClr val="bg1"/>
              </a:solidFill>
              <a:latin typeface="Segoe UI" panose="020B0502040204020203" charset="0"/>
              <a:ea typeface="Microsoft YaHei" panose="020B0503020204020204" pitchFamily="34" charset="-122"/>
              <a:cs typeface="Segoe UI" panose="020B0502040204020203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1213" y="3410639"/>
            <a:ext cx="10569575" cy="829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en-US" altLang="en-US" sz="2400" dirty="0">
              <a:solidFill>
                <a:schemeClr val="bg1"/>
              </a:solidFill>
              <a:latin typeface="Segoe UI" panose="020B0502040204020203" charset="0"/>
              <a:ea typeface="Microsoft YaHei" panose="020B0503020204020204" pitchFamily="34" charset="-122"/>
              <a:cs typeface="Segoe UI" panose="020B0502040204020203" charset="0"/>
            </a:endParaRPr>
          </a:p>
          <a:p>
            <a:pPr algn="ctr">
              <a:defRPr/>
            </a:pPr>
            <a:r>
              <a:rPr lang="en-US" altLang="en-US" sz="2400" dirty="0">
                <a:solidFill>
                  <a:schemeClr val="bg1"/>
                </a:solidFill>
                <a:latin typeface="Segoe UI" panose="020B0502040204020203" charset="0"/>
                <a:ea typeface="Microsoft YaHei" panose="020B0503020204020204" pitchFamily="34" charset="-122"/>
                <a:cs typeface="Segoe UI" panose="020B0502040204020203" charset="0"/>
              </a:rPr>
              <a:t>An Enterprise-Grade Cryptographic Password Manager with Security Auditing</a:t>
            </a:r>
            <a:endParaRPr lang="en-US" altLang="en-US" sz="2400" dirty="0">
              <a:solidFill>
                <a:schemeClr val="bg1"/>
              </a:solidFill>
              <a:latin typeface="Segoe UI" panose="020B0502040204020203" charset="0"/>
              <a:ea typeface="Microsoft YaHei" panose="020B0503020204020204" pitchFamily="34" charset="-122"/>
              <a:cs typeface="Segoe UI" panose="020B0502040204020203" charset="0"/>
            </a:endParaRPr>
          </a:p>
        </p:txBody>
      </p:sp>
      <p:sp>
        <p:nvSpPr>
          <p:cNvPr id="7" name="矩形 8"/>
          <p:cNvSpPr>
            <a:spLocks noChangeArrowheads="1"/>
          </p:cNvSpPr>
          <p:nvPr/>
        </p:nvSpPr>
        <p:spPr bwMode="auto">
          <a:xfrm>
            <a:off x="4266923" y="4693665"/>
            <a:ext cx="3659505" cy="398780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dirty="0" smtClean="0">
                <a:solidFill>
                  <a:srgbClr val="F0ED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Submitted by </a:t>
            </a:r>
            <a:r>
              <a:rPr lang="zh-CN" altLang="en-US" sz="2000" dirty="0" smtClean="0">
                <a:solidFill>
                  <a:srgbClr val="F0ED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lang="en-US" altLang="zh-CN" sz="2000" dirty="0" smtClean="0">
                <a:solidFill>
                  <a:srgbClr val="F0ED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ParineetaDeb</a:t>
            </a:r>
            <a:endParaRPr lang="en-US" altLang="zh-CN" sz="2000" dirty="0" smtClean="0">
              <a:solidFill>
                <a:srgbClr val="F0EDF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362200" y="3410639"/>
            <a:ext cx="7545957" cy="0"/>
          </a:xfrm>
          <a:prstGeom prst="line">
            <a:avLst/>
          </a:prstGeom>
          <a:ln>
            <a:solidFill>
              <a:srgbClr val="7BB6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0" t="18213" r="4587" b="58075"/>
          <a:stretch>
            <a:fillRect/>
          </a:stretch>
        </p:blipFill>
        <p:spPr>
          <a:xfrm rot="5400000">
            <a:off x="-1835680" y="1975811"/>
            <a:ext cx="6857999" cy="2906376"/>
          </a:xfrm>
          <a:custGeom>
            <a:avLst/>
            <a:gdLst>
              <a:gd name="connsiteX0" fmla="*/ 0 w 7141531"/>
              <a:gd name="connsiteY0" fmla="*/ 3026535 h 3026535"/>
              <a:gd name="connsiteX1" fmla="*/ 0 w 7141531"/>
              <a:gd name="connsiteY1" fmla="*/ 0 h 3026535"/>
              <a:gd name="connsiteX2" fmla="*/ 7141531 w 7141531"/>
              <a:gd name="connsiteY2" fmla="*/ 0 h 3026535"/>
              <a:gd name="connsiteX3" fmla="*/ 7141531 w 7141531"/>
              <a:gd name="connsiteY3" fmla="*/ 3026535 h 3026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1531" h="3026535">
                <a:moveTo>
                  <a:pt x="0" y="3026535"/>
                </a:moveTo>
                <a:lnTo>
                  <a:pt x="0" y="0"/>
                </a:lnTo>
                <a:lnTo>
                  <a:pt x="7141531" y="0"/>
                </a:lnTo>
                <a:lnTo>
                  <a:pt x="7141531" y="3026535"/>
                </a:lnTo>
                <a:close/>
              </a:path>
            </a:pathLst>
          </a:custGeom>
        </p:spPr>
      </p:pic>
      <p:sp>
        <p:nvSpPr>
          <p:cNvPr id="7" name="MH_Number_1"/>
          <p:cNvSpPr/>
          <p:nvPr>
            <p:custDataLst>
              <p:tags r:id="rId2"/>
            </p:custDataLst>
          </p:nvPr>
        </p:nvSpPr>
        <p:spPr>
          <a:xfrm>
            <a:off x="3191141" y="400744"/>
            <a:ext cx="498951" cy="498614"/>
          </a:xfrm>
          <a:prstGeom prst="rect">
            <a:avLst/>
          </a:prstGeom>
          <a:solidFill>
            <a:srgbClr val="2A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b="1" dirty="0">
                <a:solidFill>
                  <a:srgbClr val="FFFFFF"/>
                </a:solidFill>
                <a:latin typeface="Segoe UI" panose="020B0502040204020203" charset="0"/>
                <a:ea typeface="Microsoft YaHei" panose="020B0503020204020204" pitchFamily="34" charset="-122"/>
                <a:cs typeface="Segoe UI" panose="020B0502040204020203" charset="0"/>
              </a:rPr>
              <a:t>01</a:t>
            </a:r>
            <a:endParaRPr lang="en-US" altLang="zh-CN" sz="2000" b="1" dirty="0">
              <a:solidFill>
                <a:srgbClr val="FFFFFF"/>
              </a:solidFill>
              <a:latin typeface="Segoe UI" panose="020B0502040204020203" charset="0"/>
              <a:ea typeface="Microsoft YaHei" panose="020B0503020204020204" pitchFamily="34" charset="-122"/>
              <a:cs typeface="Segoe UI" panose="020B0502040204020203" charset="0"/>
            </a:endParaRPr>
          </a:p>
        </p:txBody>
      </p:sp>
      <p:sp>
        <p:nvSpPr>
          <p:cNvPr id="8" name="MH_Entry_1"/>
          <p:cNvSpPr/>
          <p:nvPr>
            <p:custDataLst>
              <p:tags r:id="rId3"/>
            </p:custDataLst>
          </p:nvPr>
        </p:nvSpPr>
        <p:spPr>
          <a:xfrm>
            <a:off x="3888996" y="412174"/>
            <a:ext cx="4027591" cy="498614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Problem Statement</a:t>
            </a: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MH_Entry_2"/>
          <p:cNvSpPr/>
          <p:nvPr>
            <p:custDataLst>
              <p:tags r:id="rId4"/>
            </p:custDataLst>
          </p:nvPr>
        </p:nvSpPr>
        <p:spPr>
          <a:xfrm>
            <a:off x="3888996" y="1120490"/>
            <a:ext cx="4027591" cy="498614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2400" spc="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Project Overview</a:t>
            </a:r>
            <a:endParaRPr lang="en-US" altLang="zh-CN" sz="2400" spc="20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MH_Number_2"/>
          <p:cNvSpPr/>
          <p:nvPr>
            <p:custDataLst>
              <p:tags r:id="rId5"/>
            </p:custDataLst>
          </p:nvPr>
        </p:nvSpPr>
        <p:spPr>
          <a:xfrm>
            <a:off x="3191141" y="1120490"/>
            <a:ext cx="498951" cy="498614"/>
          </a:xfrm>
          <a:prstGeom prst="rect">
            <a:avLst/>
          </a:prstGeom>
          <a:solidFill>
            <a:srgbClr val="2A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Segoe UI" panose="020B0502040204020203" charset="0"/>
                <a:ea typeface="Microsoft YaHei" panose="020B0503020204020204" pitchFamily="34" charset="-122"/>
                <a:cs typeface="Segoe UI" panose="020B0502040204020203" charset="0"/>
              </a:rPr>
              <a:t>02</a:t>
            </a:r>
            <a:endParaRPr lang="zh-CN" altLang="en-US" sz="2000" b="1">
              <a:solidFill>
                <a:srgbClr val="FFFFFF"/>
              </a:solidFill>
              <a:latin typeface="Segoe UI" panose="020B0502040204020203" charset="0"/>
              <a:ea typeface="Microsoft YaHei" panose="020B0503020204020204" pitchFamily="34" charset="-122"/>
              <a:cs typeface="Segoe UI" panose="020B0502040204020203" charset="0"/>
            </a:endParaRPr>
          </a:p>
        </p:txBody>
      </p:sp>
      <p:sp>
        <p:nvSpPr>
          <p:cNvPr id="11" name="MH_Number_1"/>
          <p:cNvSpPr/>
          <p:nvPr>
            <p:custDataLst>
              <p:tags r:id="rId6"/>
            </p:custDataLst>
          </p:nvPr>
        </p:nvSpPr>
        <p:spPr>
          <a:xfrm>
            <a:off x="3191141" y="1979301"/>
            <a:ext cx="498951" cy="498614"/>
          </a:xfrm>
          <a:prstGeom prst="rect">
            <a:avLst/>
          </a:prstGeom>
          <a:solidFill>
            <a:srgbClr val="2A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b="1" dirty="0" smtClean="0">
                <a:solidFill>
                  <a:srgbClr val="FFFFFF"/>
                </a:solidFill>
                <a:latin typeface="Segoe UI" panose="020B0502040204020203" charset="0"/>
                <a:ea typeface="Microsoft YaHei" panose="020B0503020204020204" pitchFamily="34" charset="-122"/>
                <a:cs typeface="Segoe UI" panose="020B0502040204020203" charset="0"/>
              </a:rPr>
              <a:t>03</a:t>
            </a:r>
            <a:endParaRPr lang="zh-CN" altLang="en-US" sz="2000" b="1" dirty="0">
              <a:solidFill>
                <a:srgbClr val="FFFFFF"/>
              </a:solidFill>
              <a:latin typeface="Segoe UI" panose="020B0502040204020203" charset="0"/>
              <a:ea typeface="Microsoft YaHei" panose="020B0503020204020204" pitchFamily="34" charset="-122"/>
              <a:cs typeface="Segoe UI" panose="020B0502040204020203" charset="0"/>
            </a:endParaRPr>
          </a:p>
        </p:txBody>
      </p:sp>
      <p:sp>
        <p:nvSpPr>
          <p:cNvPr id="12" name="MH_Entry_1"/>
          <p:cNvSpPr/>
          <p:nvPr>
            <p:custDataLst>
              <p:tags r:id="rId7"/>
            </p:custDataLst>
          </p:nvPr>
        </p:nvSpPr>
        <p:spPr>
          <a:xfrm>
            <a:off x="3888996" y="1977396"/>
            <a:ext cx="4027591" cy="498614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2400" spc="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Project Objectives</a:t>
            </a:r>
            <a:endParaRPr lang="en-US" altLang="zh-CN" sz="2400" spc="20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MH_Entry_2"/>
          <p:cNvSpPr/>
          <p:nvPr>
            <p:custDataLst>
              <p:tags r:id="rId8"/>
            </p:custDataLst>
          </p:nvPr>
        </p:nvSpPr>
        <p:spPr>
          <a:xfrm>
            <a:off x="3888996" y="2890817"/>
            <a:ext cx="4027591" cy="498614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Modular Framework</a:t>
            </a: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MH_Number_2"/>
          <p:cNvSpPr/>
          <p:nvPr>
            <p:custDataLst>
              <p:tags r:id="rId9"/>
            </p:custDataLst>
          </p:nvPr>
        </p:nvSpPr>
        <p:spPr>
          <a:xfrm>
            <a:off x="3191141" y="2890182"/>
            <a:ext cx="498951" cy="498614"/>
          </a:xfrm>
          <a:prstGeom prst="rect">
            <a:avLst/>
          </a:prstGeom>
          <a:solidFill>
            <a:srgbClr val="2A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b="1" dirty="0" smtClean="0">
                <a:solidFill>
                  <a:srgbClr val="FFFFFF"/>
                </a:solidFill>
                <a:latin typeface="Segoe UI" panose="020B0502040204020203" charset="0"/>
                <a:ea typeface="Microsoft YaHei" panose="020B0503020204020204" pitchFamily="34" charset="-122"/>
                <a:cs typeface="Segoe UI" panose="020B0502040204020203" charset="0"/>
              </a:rPr>
              <a:t>04</a:t>
            </a:r>
            <a:endParaRPr lang="zh-CN" altLang="en-US" sz="2000" b="1" dirty="0">
              <a:solidFill>
                <a:srgbClr val="FFFFFF"/>
              </a:solidFill>
              <a:latin typeface="Segoe UI" panose="020B0502040204020203" charset="0"/>
              <a:ea typeface="Microsoft YaHei" panose="020B0503020204020204" pitchFamily="34" charset="-122"/>
              <a:cs typeface="Segoe UI" panose="020B0502040204020203" charset="0"/>
            </a:endParaRPr>
          </a:p>
        </p:txBody>
      </p:sp>
      <p:sp>
        <p:nvSpPr>
          <p:cNvPr id="15" name="图文框 14"/>
          <p:cNvSpPr/>
          <p:nvPr/>
        </p:nvSpPr>
        <p:spPr>
          <a:xfrm>
            <a:off x="0" y="0"/>
            <a:ext cx="12192000" cy="6858001"/>
          </a:xfrm>
          <a:prstGeom prst="frame">
            <a:avLst>
              <a:gd name="adj1" fmla="val 2171"/>
            </a:avLst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3190875" y="3770630"/>
            <a:ext cx="484505" cy="502920"/>
          </a:xfrm>
          <a:prstGeom prst="rect">
            <a:avLst/>
          </a:prstGeom>
          <a:solidFill>
            <a:srgbClr val="2A428D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000" b="1">
                <a:latin typeface="Segoe UI" panose="020B0502040204020203" charset="0"/>
                <a:cs typeface="Segoe UI" panose="020B0502040204020203" charset="0"/>
              </a:rPr>
              <a:t>05</a:t>
            </a:r>
            <a:endParaRPr lang="en-US" sz="2000" b="1"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888740" y="3778885"/>
            <a:ext cx="4027805" cy="523875"/>
          </a:xfrm>
          <a:prstGeom prst="rect">
            <a:avLst/>
          </a:prstGeom>
          <a:solidFill>
            <a:srgbClr val="7BB6E1"/>
          </a:solidFill>
        </p:spPr>
        <p:txBody>
          <a:bodyPr wrap="square" rtlCol="0">
            <a:noAutofit/>
          </a:bodyPr>
          <a:p>
            <a:pPr algn="ctr"/>
            <a:r>
              <a:rPr lang="en-US" sz="2800">
                <a:solidFill>
                  <a:schemeClr val="bg1"/>
                </a:solidFill>
                <a:latin typeface="Segoe UI" panose="020B0502040204020203" charset="0"/>
                <a:cs typeface="Segoe UI" panose="020B0502040204020203" charset="0"/>
              </a:rPr>
              <a:t>Technical Architecture</a:t>
            </a:r>
            <a:endParaRPr lang="en-US" sz="2800">
              <a:solidFill>
                <a:schemeClr val="bg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888740" y="4541520"/>
            <a:ext cx="4028440" cy="545465"/>
          </a:xfrm>
          <a:prstGeom prst="rect">
            <a:avLst/>
          </a:prstGeom>
          <a:solidFill>
            <a:srgbClr val="7BB6E1"/>
          </a:solidFill>
        </p:spPr>
        <p:txBody>
          <a:bodyPr wrap="square" rtlCol="0">
            <a:noAutofit/>
          </a:bodyPr>
          <a:p>
            <a:r>
              <a:rPr lang="en-US" sz="2800">
                <a:solidFill>
                  <a:schemeClr val="bg1"/>
                </a:solidFill>
                <a:latin typeface="Segoe UI" panose="020B0502040204020203" charset="0"/>
                <a:cs typeface="Segoe UI" panose="020B0502040204020203" charset="0"/>
              </a:rPr>
              <a:t>      Security Auditing </a:t>
            </a:r>
            <a:endParaRPr lang="en-US" sz="2800">
              <a:solidFill>
                <a:schemeClr val="bg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281420" y="5367020"/>
            <a:ext cx="4203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255270" y="1979295"/>
            <a:ext cx="2513330" cy="1867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2000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</a:t>
            </a:r>
            <a:endParaRPr lang="en-US" sz="2000" b="1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000" b="1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endParaRPr lang="en-US" sz="2000" b="1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000" b="1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 </a:t>
            </a:r>
            <a:endParaRPr lang="en-US" sz="2000" b="1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3888740" y="5325745"/>
            <a:ext cx="4027805" cy="488315"/>
          </a:xfrm>
          <a:prstGeom prst="rect">
            <a:avLst/>
          </a:prstGeom>
          <a:solidFill>
            <a:srgbClr val="7BB6E1"/>
          </a:solidFill>
        </p:spPr>
        <p:txBody>
          <a:bodyPr wrap="square" rtlCol="0">
            <a:noAutofit/>
          </a:bodyPr>
          <a:p>
            <a:pPr algn="ctr"/>
            <a:r>
              <a:rPr lang="en-US" sz="2400">
                <a:solidFill>
                  <a:schemeClr val="bg1"/>
                </a:solidFill>
                <a:latin typeface="Segoe UI" panose="020B0502040204020203" charset="0"/>
                <a:cs typeface="Segoe UI" panose="020B0502040204020203" charset="0"/>
              </a:rPr>
              <a:t>Proposed Interface Design</a:t>
            </a:r>
            <a:endParaRPr lang="en-US" sz="2400">
              <a:solidFill>
                <a:schemeClr val="bg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3917950" y="6077585"/>
            <a:ext cx="3999865" cy="515620"/>
          </a:xfrm>
          <a:prstGeom prst="rect">
            <a:avLst/>
          </a:prstGeom>
          <a:solidFill>
            <a:srgbClr val="7BB6E1"/>
          </a:solidFill>
        </p:spPr>
        <p:txBody>
          <a:bodyPr wrap="square" rtlCol="0">
            <a:noAutofit/>
          </a:bodyPr>
          <a:p>
            <a:pPr algn="ctr"/>
            <a:r>
              <a:rPr lang="en-US" sz="2800">
                <a:solidFill>
                  <a:schemeClr val="bg1"/>
                </a:solidFill>
                <a:latin typeface="Segoe UI" panose="020B0502040204020203" charset="0"/>
                <a:cs typeface="Segoe UI" panose="020B0502040204020203" charset="0"/>
              </a:rPr>
              <a:t>Project Roadmap</a:t>
            </a:r>
            <a:endParaRPr lang="en-US" sz="2800">
              <a:solidFill>
                <a:schemeClr val="bg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3174365" y="4572000"/>
            <a:ext cx="535305" cy="480060"/>
          </a:xfrm>
          <a:prstGeom prst="rect">
            <a:avLst/>
          </a:prstGeom>
          <a:solidFill>
            <a:srgbClr val="2A428D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000" b="1">
                <a:latin typeface="Segoe UI" panose="020B0502040204020203" charset="0"/>
                <a:cs typeface="Segoe UI" panose="020B0502040204020203" charset="0"/>
              </a:rPr>
              <a:t>06</a:t>
            </a:r>
            <a:endParaRPr lang="en-US" sz="2000" b="1"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3165475" y="5324475"/>
            <a:ext cx="544195" cy="508000"/>
          </a:xfrm>
          <a:prstGeom prst="rect">
            <a:avLst/>
          </a:prstGeom>
          <a:solidFill>
            <a:srgbClr val="2A428D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000" b="1">
                <a:latin typeface="Segoe UI" panose="020B0502040204020203" charset="0"/>
                <a:cs typeface="Segoe UI" panose="020B0502040204020203" charset="0"/>
              </a:rPr>
              <a:t>07</a:t>
            </a:r>
            <a:endParaRPr lang="en-US" sz="2000" b="1"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3155950" y="6032500"/>
            <a:ext cx="553720" cy="561340"/>
          </a:xfrm>
          <a:prstGeom prst="rect">
            <a:avLst/>
          </a:prstGeom>
          <a:solidFill>
            <a:srgbClr val="2A428D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000" b="1">
                <a:latin typeface="Segoe UI" panose="020B0502040204020203" charset="0"/>
                <a:cs typeface="Segoe UI" panose="020B0502040204020203" charset="0"/>
              </a:rPr>
              <a:t>08</a:t>
            </a:r>
            <a:endParaRPr lang="en-US" sz="2000" b="1"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0" t="62032" r="4587" b="4872"/>
          <a:stretch>
            <a:fillRect/>
          </a:stretch>
        </p:blipFill>
        <p:spPr>
          <a:xfrm rot="5400000">
            <a:off x="80357" y="1400722"/>
            <a:ext cx="6857999" cy="4056558"/>
          </a:xfrm>
          <a:custGeom>
            <a:avLst/>
            <a:gdLst>
              <a:gd name="connsiteX0" fmla="*/ 0 w 7141531"/>
              <a:gd name="connsiteY0" fmla="*/ 3168202 h 4224269"/>
              <a:gd name="connsiteX1" fmla="*/ 0 w 7141531"/>
              <a:gd name="connsiteY1" fmla="*/ 0 h 4224269"/>
              <a:gd name="connsiteX2" fmla="*/ 7141531 w 7141531"/>
              <a:gd name="connsiteY2" fmla="*/ 1056066 h 4224269"/>
              <a:gd name="connsiteX3" fmla="*/ 7141531 w 7141531"/>
              <a:gd name="connsiteY3" fmla="*/ 4224269 h 422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1531" h="4224269">
                <a:moveTo>
                  <a:pt x="0" y="3168202"/>
                </a:moveTo>
                <a:lnTo>
                  <a:pt x="0" y="0"/>
                </a:lnTo>
                <a:lnTo>
                  <a:pt x="7141531" y="1056066"/>
                </a:lnTo>
                <a:lnTo>
                  <a:pt x="7141531" y="4224269"/>
                </a:lnTo>
                <a:close/>
              </a:path>
            </a:pathLst>
          </a:custGeom>
        </p:spPr>
      </p:pic>
      <p:sp>
        <p:nvSpPr>
          <p:cNvPr id="8" name="MH_Entry_1"/>
          <p:cNvSpPr/>
          <p:nvPr>
            <p:custDataLst>
              <p:tags r:id="rId2"/>
            </p:custDataLst>
          </p:nvPr>
        </p:nvSpPr>
        <p:spPr>
          <a:xfrm>
            <a:off x="5476295" y="728055"/>
            <a:ext cx="5086582" cy="691915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36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Problem Statement</a:t>
            </a:r>
            <a:endParaRPr lang="en-US" altLang="zh-CN" sz="36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图文框 14"/>
          <p:cNvSpPr/>
          <p:nvPr/>
        </p:nvSpPr>
        <p:spPr>
          <a:xfrm>
            <a:off x="0" y="0"/>
            <a:ext cx="12192000" cy="6858001"/>
          </a:xfrm>
          <a:prstGeom prst="frame">
            <a:avLst>
              <a:gd name="adj1" fmla="val 5364"/>
            </a:avLst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537835" y="1811020"/>
            <a:ext cx="5086350" cy="1537970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B050"/>
              </a:buClr>
              <a:buSzPct val="80000"/>
              <a:defRPr/>
            </a:pPr>
            <a:r>
              <a:rPr lang="en-US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Organizations today face a critical security gap: while password storage is common, most systems lack Zero-Knowledge privacy and Immutable Auditing. This leads to "Internal Threats" where administrative access goes untracked, and "External Vulnerabilities" where stored credentials become a single point of failure during a data breach.</a:t>
            </a:r>
            <a:endParaRPr lang="en-US" altLang="en-US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矩形 149"/>
          <p:cNvSpPr/>
          <p:nvPr>
            <p:custDataLst>
              <p:tags r:id="rId1"/>
            </p:custDataLst>
          </p:nvPr>
        </p:nvSpPr>
        <p:spPr>
          <a:xfrm>
            <a:off x="3413951" y="1598982"/>
            <a:ext cx="2613025" cy="4094163"/>
          </a:xfrm>
          <a:prstGeom prst="rect">
            <a:avLst/>
          </a:prstGeom>
          <a:solidFill>
            <a:srgbClr val="2B353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51" name="文本框 3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487420" y="3698240"/>
            <a:ext cx="2539365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Architecture where sensitive keys never leave the client-side, ensuring total privacy from the server.</a:t>
            </a:r>
            <a:endParaRPr lang="en-US" altLang="en-US" sz="16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4" name="矩形 3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004501" y="2599107"/>
            <a:ext cx="1539875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/>
            <a:r>
              <a:rPr lang="en-US" altLang="en-US" b="1" dirty="0">
                <a:solidFill>
                  <a:schemeClr val="bg1"/>
                </a:solidFill>
                <a:latin typeface="Segoe UI" panose="020B0502040204020203" charset="0"/>
                <a:ea typeface="Microsoft YaHei" panose="020B0503020204020204" pitchFamily="34" charset="-122"/>
                <a:cs typeface="Segoe UI" panose="020B0502040204020203" charset="0"/>
              </a:rPr>
              <a:t>Zero-Knowledge Architecture</a:t>
            </a:r>
            <a:endParaRPr lang="en-US" altLang="en-US" b="1" dirty="0">
              <a:solidFill>
                <a:schemeClr val="bg1"/>
              </a:solidFill>
              <a:latin typeface="Segoe UI" panose="020B0502040204020203" charset="0"/>
              <a:ea typeface="Microsoft YaHei" panose="020B0503020204020204" pitchFamily="34" charset="-122"/>
              <a:cs typeface="Segoe UI" panose="020B0502040204020203" charset="0"/>
            </a:endParaRPr>
          </a:p>
        </p:txBody>
      </p:sp>
      <p:cxnSp>
        <p:nvCxnSpPr>
          <p:cNvPr id="155" name="直接连接符 154"/>
          <p:cNvCxnSpPr/>
          <p:nvPr>
            <p:custDataLst>
              <p:tags r:id="rId4"/>
            </p:custDataLst>
          </p:nvPr>
        </p:nvCxnSpPr>
        <p:spPr>
          <a:xfrm>
            <a:off x="3413951" y="3507792"/>
            <a:ext cx="261302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矩形 155"/>
          <p:cNvSpPr/>
          <p:nvPr>
            <p:custDataLst>
              <p:tags r:id="rId5"/>
            </p:custDataLst>
          </p:nvPr>
        </p:nvSpPr>
        <p:spPr>
          <a:xfrm>
            <a:off x="643345" y="1598982"/>
            <a:ext cx="2613025" cy="4094163"/>
          </a:xfrm>
          <a:prstGeom prst="rect">
            <a:avLst/>
          </a:prstGeom>
          <a:solidFill>
            <a:srgbClr val="7BB6E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57" name="矩形 156"/>
          <p:cNvSpPr/>
          <p:nvPr>
            <p:custDataLst>
              <p:tags r:id="rId6"/>
            </p:custDataLst>
          </p:nvPr>
        </p:nvSpPr>
        <p:spPr>
          <a:xfrm>
            <a:off x="6189137" y="1598982"/>
            <a:ext cx="2611438" cy="4094163"/>
          </a:xfrm>
          <a:prstGeom prst="rect">
            <a:avLst/>
          </a:prstGeom>
          <a:solidFill>
            <a:srgbClr val="2B353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58" name="矩形 157"/>
          <p:cNvSpPr/>
          <p:nvPr>
            <p:custDataLst>
              <p:tags r:id="rId7"/>
            </p:custDataLst>
          </p:nvPr>
        </p:nvSpPr>
        <p:spPr>
          <a:xfrm>
            <a:off x="8936779" y="1598982"/>
            <a:ext cx="2611437" cy="4094163"/>
          </a:xfrm>
          <a:prstGeom prst="rect">
            <a:avLst/>
          </a:prstGeom>
          <a:solidFill>
            <a:srgbClr val="2B353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59" name="任意多边形 42"/>
          <p:cNvSpPr/>
          <p:nvPr>
            <p:custDataLst>
              <p:tags r:id="rId8"/>
            </p:custDataLst>
          </p:nvPr>
        </p:nvSpPr>
        <p:spPr bwMode="auto">
          <a:xfrm>
            <a:off x="1504315" y="1671320"/>
            <a:ext cx="875030" cy="884555"/>
          </a:xfrm>
          <a:custGeom>
            <a:avLst/>
            <a:gdLst>
              <a:gd name="T0" fmla="*/ 429337 w 875300"/>
              <a:gd name="T1" fmla="*/ 166392 h 874712"/>
              <a:gd name="T2" fmla="*/ 762041 w 875300"/>
              <a:gd name="T3" fmla="*/ 560207 h 874712"/>
              <a:gd name="T4" fmla="*/ 762041 w 875300"/>
              <a:gd name="T5" fmla="*/ 839159 h 874712"/>
              <a:gd name="T6" fmla="*/ 721135 w 875300"/>
              <a:gd name="T7" fmla="*/ 874712 h 874712"/>
              <a:gd name="T8" fmla="*/ 505695 w 875300"/>
              <a:gd name="T9" fmla="*/ 874712 h 874712"/>
              <a:gd name="T10" fmla="*/ 505695 w 875300"/>
              <a:gd name="T11" fmla="*/ 623108 h 874712"/>
              <a:gd name="T12" fmla="*/ 355705 w 875300"/>
              <a:gd name="T13" fmla="*/ 623108 h 874712"/>
              <a:gd name="T14" fmla="*/ 355705 w 875300"/>
              <a:gd name="T15" fmla="*/ 874712 h 874712"/>
              <a:gd name="T16" fmla="*/ 137539 w 875300"/>
              <a:gd name="T17" fmla="*/ 874712 h 874712"/>
              <a:gd name="T18" fmla="*/ 93905 w 875300"/>
              <a:gd name="T19" fmla="*/ 839159 h 874712"/>
              <a:gd name="T20" fmla="*/ 93905 w 875300"/>
              <a:gd name="T21" fmla="*/ 590290 h 874712"/>
              <a:gd name="T22" fmla="*/ 429337 w 875300"/>
              <a:gd name="T23" fmla="*/ 166392 h 874712"/>
              <a:gd name="T24" fmla="*/ 427074 w 875300"/>
              <a:gd name="T25" fmla="*/ 0 h 874712"/>
              <a:gd name="T26" fmla="*/ 457099 w 875300"/>
              <a:gd name="T27" fmla="*/ 13668 h 874712"/>
              <a:gd name="T28" fmla="*/ 866518 w 875300"/>
              <a:gd name="T29" fmla="*/ 502985 h 874712"/>
              <a:gd name="T30" fmla="*/ 861059 w 875300"/>
              <a:gd name="T31" fmla="*/ 560390 h 874712"/>
              <a:gd name="T32" fmla="*/ 811929 w 875300"/>
              <a:gd name="T33" fmla="*/ 565858 h 874712"/>
              <a:gd name="T34" fmla="*/ 429804 w 875300"/>
              <a:gd name="T35" fmla="*/ 114812 h 874712"/>
              <a:gd name="T36" fmla="*/ 61327 w 875300"/>
              <a:gd name="T37" fmla="*/ 576792 h 874712"/>
              <a:gd name="T38" fmla="*/ 12197 w 875300"/>
              <a:gd name="T39" fmla="*/ 571325 h 874712"/>
              <a:gd name="T40" fmla="*/ 6737 w 875300"/>
              <a:gd name="T41" fmla="*/ 513919 h 874712"/>
              <a:gd name="T42" fmla="*/ 397051 w 875300"/>
              <a:gd name="T43" fmla="*/ 13668 h 874712"/>
              <a:gd name="T44" fmla="*/ 427074 w 875300"/>
              <a:gd name="T45" fmla="*/ 0 h 874712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875300" h="874712">
                <a:moveTo>
                  <a:pt x="429913" y="166392"/>
                </a:moveTo>
                <a:cubicBezTo>
                  <a:pt x="429913" y="166392"/>
                  <a:pt x="763064" y="541063"/>
                  <a:pt x="763064" y="560207"/>
                </a:cubicBezTo>
                <a:cubicBezTo>
                  <a:pt x="763064" y="560207"/>
                  <a:pt x="763064" y="560207"/>
                  <a:pt x="763064" y="839159"/>
                </a:cubicBezTo>
                <a:cubicBezTo>
                  <a:pt x="763064" y="858303"/>
                  <a:pt x="743949" y="874712"/>
                  <a:pt x="722103" y="874712"/>
                </a:cubicBezTo>
                <a:cubicBezTo>
                  <a:pt x="722103" y="874712"/>
                  <a:pt x="722103" y="874712"/>
                  <a:pt x="506374" y="874712"/>
                </a:cubicBezTo>
                <a:cubicBezTo>
                  <a:pt x="506374" y="874712"/>
                  <a:pt x="506374" y="874712"/>
                  <a:pt x="506374" y="623108"/>
                </a:cubicBezTo>
                <a:cubicBezTo>
                  <a:pt x="506374" y="623108"/>
                  <a:pt x="506374" y="623108"/>
                  <a:pt x="356183" y="623108"/>
                </a:cubicBezTo>
                <a:cubicBezTo>
                  <a:pt x="356183" y="623108"/>
                  <a:pt x="356183" y="623108"/>
                  <a:pt x="356183" y="874712"/>
                </a:cubicBezTo>
                <a:cubicBezTo>
                  <a:pt x="356183" y="874712"/>
                  <a:pt x="356183" y="874712"/>
                  <a:pt x="137723" y="874712"/>
                </a:cubicBezTo>
                <a:cubicBezTo>
                  <a:pt x="113146" y="874712"/>
                  <a:pt x="94031" y="858303"/>
                  <a:pt x="94031" y="839159"/>
                </a:cubicBezTo>
                <a:cubicBezTo>
                  <a:pt x="94031" y="839159"/>
                  <a:pt x="94031" y="839159"/>
                  <a:pt x="94031" y="590290"/>
                </a:cubicBezTo>
                <a:cubicBezTo>
                  <a:pt x="94031" y="590290"/>
                  <a:pt x="94031" y="590290"/>
                  <a:pt x="429913" y="166392"/>
                </a:cubicBezTo>
                <a:close/>
                <a:moveTo>
                  <a:pt x="427648" y="0"/>
                </a:moveTo>
                <a:cubicBezTo>
                  <a:pt x="438581" y="0"/>
                  <a:pt x="449513" y="2734"/>
                  <a:pt x="457713" y="13668"/>
                </a:cubicBezTo>
                <a:cubicBezTo>
                  <a:pt x="463179" y="19135"/>
                  <a:pt x="867682" y="502985"/>
                  <a:pt x="867682" y="502985"/>
                </a:cubicBezTo>
                <a:cubicBezTo>
                  <a:pt x="878614" y="516653"/>
                  <a:pt x="878614" y="543989"/>
                  <a:pt x="862215" y="560390"/>
                </a:cubicBezTo>
                <a:cubicBezTo>
                  <a:pt x="848550" y="579526"/>
                  <a:pt x="826685" y="582259"/>
                  <a:pt x="813019" y="565858"/>
                </a:cubicBezTo>
                <a:cubicBezTo>
                  <a:pt x="813019" y="565858"/>
                  <a:pt x="813019" y="565858"/>
                  <a:pt x="430381" y="114812"/>
                </a:cubicBezTo>
                <a:cubicBezTo>
                  <a:pt x="430381" y="114812"/>
                  <a:pt x="430381" y="114812"/>
                  <a:pt x="61409" y="576792"/>
                </a:cubicBezTo>
                <a:cubicBezTo>
                  <a:pt x="50477" y="590460"/>
                  <a:pt x="28612" y="587727"/>
                  <a:pt x="12213" y="571325"/>
                </a:cubicBezTo>
                <a:cubicBezTo>
                  <a:pt x="-1453" y="554923"/>
                  <a:pt x="-4186" y="530321"/>
                  <a:pt x="6747" y="513919"/>
                </a:cubicBezTo>
                <a:cubicBezTo>
                  <a:pt x="6747" y="513919"/>
                  <a:pt x="392117" y="21869"/>
                  <a:pt x="397584" y="13668"/>
                </a:cubicBezTo>
                <a:cubicBezTo>
                  <a:pt x="405783" y="2734"/>
                  <a:pt x="416716" y="0"/>
                  <a:pt x="4276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2" name="文本框 22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88975" y="3698240"/>
            <a:ext cx="2567305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Implementing military-grade standards to ensure data at rest is mathematically impossible to breach.</a:t>
            </a:r>
            <a:endParaRPr lang="en-US" altLang="en-US" sz="16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3" name="矩形 6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181100" y="2625725"/>
            <a:ext cx="1539875" cy="8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/>
            <a:r>
              <a:rPr lang="en-US" altLang="en-US" sz="2000" b="1" dirty="0" smtClean="0">
                <a:solidFill>
                  <a:schemeClr val="bg1"/>
                </a:solidFill>
                <a:latin typeface="Segoe UI" panose="020B0502040204020203" charset="0"/>
                <a:ea typeface="Microsoft YaHei" panose="020B0503020204020204" pitchFamily="34" charset="-122"/>
                <a:cs typeface="Segoe UI" panose="020B0502040204020203" charset="0"/>
              </a:rPr>
              <a:t>AES-256 Encryption</a:t>
            </a:r>
            <a:endParaRPr lang="en-US" altLang="en-US" sz="2000" b="1" dirty="0" smtClean="0">
              <a:solidFill>
                <a:schemeClr val="bg1"/>
              </a:solidFill>
              <a:latin typeface="Segoe UI" panose="020B0502040204020203" charset="0"/>
              <a:ea typeface="Microsoft YaHei" panose="020B0503020204020204" pitchFamily="34" charset="-122"/>
              <a:cs typeface="Segoe UI" panose="020B0502040204020203" charset="0"/>
            </a:endParaRPr>
          </a:p>
        </p:txBody>
      </p:sp>
      <p:sp>
        <p:nvSpPr>
          <p:cNvPr id="164" name="文本框 31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89345" y="3698240"/>
            <a:ext cx="2562225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real-time, immutable logging system that tracks every credential access and administrative change.</a:t>
            </a:r>
            <a:endParaRPr lang="en-US" altLang="en-US" sz="16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5" name="矩形 32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772702" y="2762937"/>
            <a:ext cx="155098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/>
            <a:r>
              <a:rPr lang="en-US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Security Auditing</a:t>
            </a:r>
            <a:endParaRPr lang="en-US" altLang="en-US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6" name="文本框 38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8953500" y="3698240"/>
            <a:ext cx="2513965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Role-based controls designed to manage complex organizational hierarchies and permissions safely.</a:t>
            </a:r>
            <a:endParaRPr lang="en-US" altLang="en-US" sz="16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7" name="矩形 40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9552411" y="2826437"/>
            <a:ext cx="1522413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/>
            <a:r>
              <a:rPr lang="en-US" altLang="en-US" b="1" dirty="0">
                <a:solidFill>
                  <a:schemeClr val="bg1"/>
                </a:solidFill>
                <a:latin typeface="Segoe UI" panose="020B0502040204020203" charset="0"/>
                <a:ea typeface="Microsoft YaHei" panose="020B0503020204020204" pitchFamily="34" charset="-122"/>
                <a:cs typeface="Segoe UI" panose="020B0502040204020203" charset="0"/>
              </a:rPr>
              <a:t>Enterprise Access</a:t>
            </a:r>
            <a:endParaRPr lang="en-US" altLang="en-US" b="1" dirty="0">
              <a:solidFill>
                <a:schemeClr val="bg1"/>
              </a:solidFill>
              <a:latin typeface="Segoe UI" panose="020B0502040204020203" charset="0"/>
              <a:ea typeface="Microsoft YaHei" panose="020B0503020204020204" pitchFamily="34" charset="-122"/>
              <a:cs typeface="Segoe UI" panose="020B0502040204020203" charset="0"/>
            </a:endParaRPr>
          </a:p>
        </p:txBody>
      </p:sp>
      <p:grpSp>
        <p:nvGrpSpPr>
          <p:cNvPr id="168" name="组合 45"/>
          <p:cNvGrpSpPr/>
          <p:nvPr>
            <p:custDataLst>
              <p:tags r:id="rId15"/>
            </p:custDataLst>
          </p:nvPr>
        </p:nvGrpSpPr>
        <p:grpSpPr bwMode="auto">
          <a:xfrm>
            <a:off x="6986062" y="1668197"/>
            <a:ext cx="1019175" cy="957263"/>
            <a:chOff x="4983209" y="3059116"/>
            <a:chExt cx="1020304" cy="957907"/>
          </a:xfrm>
        </p:grpSpPr>
        <p:sp>
          <p:nvSpPr>
            <p:cNvPr id="169" name="Freeform 10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4983209" y="3436963"/>
              <a:ext cx="580059" cy="580060"/>
            </a:xfrm>
            <a:custGeom>
              <a:avLst/>
              <a:gdLst>
                <a:gd name="T0" fmla="*/ 2147483646 w 212"/>
                <a:gd name="T1" fmla="*/ 2147483646 h 212"/>
                <a:gd name="T2" fmla="*/ 2147483646 w 212"/>
                <a:gd name="T3" fmla="*/ 2147483646 h 212"/>
                <a:gd name="T4" fmla="*/ 2147483646 w 212"/>
                <a:gd name="T5" fmla="*/ 2147483646 h 212"/>
                <a:gd name="T6" fmla="*/ 2147483646 w 212"/>
                <a:gd name="T7" fmla="*/ 2147483646 h 212"/>
                <a:gd name="T8" fmla="*/ 2147483646 w 212"/>
                <a:gd name="T9" fmla="*/ 2147483646 h 212"/>
                <a:gd name="T10" fmla="*/ 2147483646 w 212"/>
                <a:gd name="T11" fmla="*/ 2147483646 h 212"/>
                <a:gd name="T12" fmla="*/ 2147483646 w 212"/>
                <a:gd name="T13" fmla="*/ 2147483646 h 212"/>
                <a:gd name="T14" fmla="*/ 2147483646 w 212"/>
                <a:gd name="T15" fmla="*/ 2147483646 h 212"/>
                <a:gd name="T16" fmla="*/ 2147483646 w 212"/>
                <a:gd name="T17" fmla="*/ 2147483646 h 212"/>
                <a:gd name="T18" fmla="*/ 2147483646 w 212"/>
                <a:gd name="T19" fmla="*/ 2147483646 h 212"/>
                <a:gd name="T20" fmla="*/ 2147483646 w 212"/>
                <a:gd name="T21" fmla="*/ 2147483646 h 212"/>
                <a:gd name="T22" fmla="*/ 2147483646 w 212"/>
                <a:gd name="T23" fmla="*/ 2147483646 h 212"/>
                <a:gd name="T24" fmla="*/ 2147483646 w 212"/>
                <a:gd name="T25" fmla="*/ 0 h 212"/>
                <a:gd name="T26" fmla="*/ 2147483646 w 212"/>
                <a:gd name="T27" fmla="*/ 2147483646 h 212"/>
                <a:gd name="T28" fmla="*/ 2147483646 w 212"/>
                <a:gd name="T29" fmla="*/ 2147483646 h 212"/>
                <a:gd name="T30" fmla="*/ 2147483646 w 212"/>
                <a:gd name="T31" fmla="*/ 2147483646 h 212"/>
                <a:gd name="T32" fmla="*/ 2147483646 w 212"/>
                <a:gd name="T33" fmla="*/ 2147483646 h 212"/>
                <a:gd name="T34" fmla="*/ 2147483646 w 212"/>
                <a:gd name="T35" fmla="*/ 2147483646 h 212"/>
                <a:gd name="T36" fmla="*/ 2147483646 w 212"/>
                <a:gd name="T37" fmla="*/ 2147483646 h 212"/>
                <a:gd name="T38" fmla="*/ 2147483646 w 212"/>
                <a:gd name="T39" fmla="*/ 2147483646 h 212"/>
                <a:gd name="T40" fmla="*/ 2147483646 w 212"/>
                <a:gd name="T41" fmla="*/ 2147483646 h 212"/>
                <a:gd name="T42" fmla="*/ 2147483646 w 212"/>
                <a:gd name="T43" fmla="*/ 2147483646 h 212"/>
                <a:gd name="T44" fmla="*/ 2147483646 w 212"/>
                <a:gd name="T45" fmla="*/ 2147483646 h 212"/>
                <a:gd name="T46" fmla="*/ 2147483646 w 212"/>
                <a:gd name="T47" fmla="*/ 2147483646 h 212"/>
                <a:gd name="T48" fmla="*/ 2147483646 w 212"/>
                <a:gd name="T49" fmla="*/ 2147483646 h 212"/>
                <a:gd name="T50" fmla="*/ 2147483646 w 212"/>
                <a:gd name="T51" fmla="*/ 2147483646 h 212"/>
                <a:gd name="T52" fmla="*/ 2147483646 w 212"/>
                <a:gd name="T53" fmla="*/ 2147483646 h 212"/>
                <a:gd name="T54" fmla="*/ 2147483646 w 212"/>
                <a:gd name="T55" fmla="*/ 2147483646 h 212"/>
                <a:gd name="T56" fmla="*/ 2147483646 w 212"/>
                <a:gd name="T57" fmla="*/ 2147483646 h 212"/>
                <a:gd name="T58" fmla="*/ 2147483646 w 212"/>
                <a:gd name="T59" fmla="*/ 2147483646 h 212"/>
                <a:gd name="T60" fmla="*/ 2147483646 w 212"/>
                <a:gd name="T61" fmla="*/ 2147483646 h 212"/>
                <a:gd name="T62" fmla="*/ 2147483646 w 212"/>
                <a:gd name="T63" fmla="*/ 2147483646 h 212"/>
                <a:gd name="T64" fmla="*/ 2147483646 w 212"/>
                <a:gd name="T65" fmla="*/ 2147483646 h 212"/>
                <a:gd name="T66" fmla="*/ 2147483646 w 212"/>
                <a:gd name="T67" fmla="*/ 2147483646 h 212"/>
                <a:gd name="T68" fmla="*/ 2147483646 w 212"/>
                <a:gd name="T69" fmla="*/ 2147483646 h 212"/>
                <a:gd name="T70" fmla="*/ 2147483646 w 212"/>
                <a:gd name="T71" fmla="*/ 2147483646 h 212"/>
                <a:gd name="T72" fmla="*/ 2147483646 w 212"/>
                <a:gd name="T73" fmla="*/ 2147483646 h 212"/>
                <a:gd name="T74" fmla="*/ 2147483646 w 212"/>
                <a:gd name="T75" fmla="*/ 2147483646 h 212"/>
                <a:gd name="T76" fmla="*/ 2147483646 w 212"/>
                <a:gd name="T77" fmla="*/ 2147483646 h 212"/>
                <a:gd name="T78" fmla="*/ 2147483646 w 212"/>
                <a:gd name="T79" fmla="*/ 2147483646 h 212"/>
                <a:gd name="T80" fmla="*/ 2147483646 w 212"/>
                <a:gd name="T81" fmla="*/ 2147483646 h 212"/>
                <a:gd name="T82" fmla="*/ 2147483646 w 212"/>
                <a:gd name="T83" fmla="*/ 2147483646 h 212"/>
                <a:gd name="T84" fmla="*/ 2147483646 w 212"/>
                <a:gd name="T85" fmla="*/ 2147483646 h 212"/>
                <a:gd name="T86" fmla="*/ 2147483646 w 212"/>
                <a:gd name="T87" fmla="*/ 2147483646 h 212"/>
                <a:gd name="T88" fmla="*/ 2147483646 w 212"/>
                <a:gd name="T89" fmla="*/ 2147483646 h 212"/>
                <a:gd name="T90" fmla="*/ 2147483646 w 212"/>
                <a:gd name="T91" fmla="*/ 2147483646 h 212"/>
                <a:gd name="T92" fmla="*/ 2147483646 w 212"/>
                <a:gd name="T93" fmla="*/ 2147483646 h 212"/>
                <a:gd name="T94" fmla="*/ 2147483646 w 212"/>
                <a:gd name="T95" fmla="*/ 2147483646 h 212"/>
                <a:gd name="T96" fmla="*/ 2147483646 w 212"/>
                <a:gd name="T97" fmla="*/ 2147483646 h 212"/>
                <a:gd name="T98" fmla="*/ 2147483646 w 212"/>
                <a:gd name="T99" fmla="*/ 2147483646 h 212"/>
                <a:gd name="T100" fmla="*/ 2147483646 w 212"/>
                <a:gd name="T101" fmla="*/ 2147483646 h 212"/>
                <a:gd name="T102" fmla="*/ 2147483646 w 212"/>
                <a:gd name="T103" fmla="*/ 2147483646 h 212"/>
                <a:gd name="T104" fmla="*/ 2147483646 w 212"/>
                <a:gd name="T105" fmla="*/ 2147483646 h 212"/>
                <a:gd name="T106" fmla="*/ 2147483646 w 212"/>
                <a:gd name="T107" fmla="*/ 2147483646 h 212"/>
                <a:gd name="T108" fmla="*/ 2147483646 w 212"/>
                <a:gd name="T109" fmla="*/ 2147483646 h 212"/>
                <a:gd name="T110" fmla="*/ 2147483646 w 212"/>
                <a:gd name="T111" fmla="*/ 2147483646 h 212"/>
                <a:gd name="T112" fmla="*/ 2147483646 w 212"/>
                <a:gd name="T113" fmla="*/ 2147483646 h 212"/>
                <a:gd name="T114" fmla="*/ 2147483646 w 212"/>
                <a:gd name="T115" fmla="*/ 2147483646 h 212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12" h="212">
                  <a:moveTo>
                    <a:pt x="190" y="93"/>
                  </a:moveTo>
                  <a:cubicBezTo>
                    <a:pt x="190" y="89"/>
                    <a:pt x="189" y="86"/>
                    <a:pt x="188" y="82"/>
                  </a:cubicBezTo>
                  <a:cubicBezTo>
                    <a:pt x="205" y="67"/>
                    <a:pt x="205" y="67"/>
                    <a:pt x="205" y="67"/>
                  </a:cubicBezTo>
                  <a:cubicBezTo>
                    <a:pt x="202" y="60"/>
                    <a:pt x="199" y="54"/>
                    <a:pt x="195" y="48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0" y="50"/>
                    <a:pt x="168" y="47"/>
                    <a:pt x="165" y="44"/>
                  </a:cubicBezTo>
                  <a:cubicBezTo>
                    <a:pt x="172" y="23"/>
                    <a:pt x="172" y="23"/>
                    <a:pt x="172" y="23"/>
                  </a:cubicBezTo>
                  <a:cubicBezTo>
                    <a:pt x="169" y="21"/>
                    <a:pt x="166" y="19"/>
                    <a:pt x="163" y="17"/>
                  </a:cubicBezTo>
                  <a:cubicBezTo>
                    <a:pt x="160" y="15"/>
                    <a:pt x="157" y="13"/>
                    <a:pt x="154" y="12"/>
                  </a:cubicBezTo>
                  <a:cubicBezTo>
                    <a:pt x="138" y="27"/>
                    <a:pt x="138" y="27"/>
                    <a:pt x="138" y="27"/>
                  </a:cubicBezTo>
                  <a:cubicBezTo>
                    <a:pt x="134" y="26"/>
                    <a:pt x="130" y="24"/>
                    <a:pt x="127" y="23"/>
                  </a:cubicBezTo>
                  <a:cubicBezTo>
                    <a:pt x="122" y="1"/>
                    <a:pt x="122" y="1"/>
                    <a:pt x="122" y="1"/>
                  </a:cubicBezTo>
                  <a:cubicBezTo>
                    <a:pt x="115" y="0"/>
                    <a:pt x="108" y="0"/>
                    <a:pt x="101" y="0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0" y="23"/>
                    <a:pt x="87" y="23"/>
                    <a:pt x="83" y="24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1" y="10"/>
                    <a:pt x="55" y="13"/>
                    <a:pt x="49" y="17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1" y="42"/>
                    <a:pt x="48" y="44"/>
                    <a:pt x="45" y="47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2" y="43"/>
                    <a:pt x="19" y="46"/>
                    <a:pt x="17" y="49"/>
                  </a:cubicBezTo>
                  <a:cubicBezTo>
                    <a:pt x="15" y="52"/>
                    <a:pt x="14" y="55"/>
                    <a:pt x="12" y="58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27" y="78"/>
                    <a:pt x="25" y="82"/>
                    <a:pt x="24" y="86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1" y="97"/>
                    <a:pt x="0" y="104"/>
                    <a:pt x="1" y="111"/>
                  </a:cubicBezTo>
                  <a:cubicBezTo>
                    <a:pt x="23" y="118"/>
                    <a:pt x="23" y="118"/>
                    <a:pt x="23" y="118"/>
                  </a:cubicBezTo>
                  <a:cubicBezTo>
                    <a:pt x="24" y="122"/>
                    <a:pt x="24" y="126"/>
                    <a:pt x="25" y="129"/>
                  </a:cubicBezTo>
                  <a:cubicBezTo>
                    <a:pt x="8" y="145"/>
                    <a:pt x="8" y="145"/>
                    <a:pt x="8" y="145"/>
                  </a:cubicBezTo>
                  <a:cubicBezTo>
                    <a:pt x="11" y="151"/>
                    <a:pt x="14" y="158"/>
                    <a:pt x="18" y="164"/>
                  </a:cubicBezTo>
                  <a:cubicBezTo>
                    <a:pt x="40" y="158"/>
                    <a:pt x="40" y="158"/>
                    <a:pt x="40" y="158"/>
                  </a:cubicBezTo>
                  <a:cubicBezTo>
                    <a:pt x="43" y="161"/>
                    <a:pt x="45" y="164"/>
                    <a:pt x="48" y="167"/>
                  </a:cubicBezTo>
                  <a:cubicBezTo>
                    <a:pt x="41" y="189"/>
                    <a:pt x="41" y="189"/>
                    <a:pt x="41" y="189"/>
                  </a:cubicBezTo>
                  <a:cubicBezTo>
                    <a:pt x="44" y="191"/>
                    <a:pt x="46" y="193"/>
                    <a:pt x="49" y="195"/>
                  </a:cubicBezTo>
                  <a:cubicBezTo>
                    <a:pt x="52" y="197"/>
                    <a:pt x="56" y="199"/>
                    <a:pt x="59" y="200"/>
                  </a:cubicBezTo>
                  <a:cubicBezTo>
                    <a:pt x="76" y="184"/>
                    <a:pt x="76" y="184"/>
                    <a:pt x="76" y="184"/>
                  </a:cubicBezTo>
                  <a:cubicBezTo>
                    <a:pt x="79" y="186"/>
                    <a:pt x="83" y="187"/>
                    <a:pt x="87" y="188"/>
                  </a:cubicBezTo>
                  <a:cubicBezTo>
                    <a:pt x="91" y="210"/>
                    <a:pt x="91" y="210"/>
                    <a:pt x="91" y="210"/>
                  </a:cubicBezTo>
                  <a:cubicBezTo>
                    <a:pt x="98" y="212"/>
                    <a:pt x="105" y="212"/>
                    <a:pt x="112" y="211"/>
                  </a:cubicBezTo>
                  <a:cubicBezTo>
                    <a:pt x="119" y="189"/>
                    <a:pt x="119" y="189"/>
                    <a:pt x="119" y="189"/>
                  </a:cubicBezTo>
                  <a:cubicBezTo>
                    <a:pt x="123" y="189"/>
                    <a:pt x="127" y="188"/>
                    <a:pt x="130" y="187"/>
                  </a:cubicBezTo>
                  <a:cubicBezTo>
                    <a:pt x="146" y="204"/>
                    <a:pt x="146" y="204"/>
                    <a:pt x="146" y="204"/>
                  </a:cubicBezTo>
                  <a:cubicBezTo>
                    <a:pt x="152" y="201"/>
                    <a:pt x="159" y="198"/>
                    <a:pt x="165" y="194"/>
                  </a:cubicBezTo>
                  <a:cubicBezTo>
                    <a:pt x="159" y="172"/>
                    <a:pt x="159" y="172"/>
                    <a:pt x="159" y="172"/>
                  </a:cubicBezTo>
                  <a:cubicBezTo>
                    <a:pt x="162" y="169"/>
                    <a:pt x="165" y="167"/>
                    <a:pt x="168" y="164"/>
                  </a:cubicBezTo>
                  <a:cubicBezTo>
                    <a:pt x="189" y="171"/>
                    <a:pt x="189" y="171"/>
                    <a:pt x="189" y="171"/>
                  </a:cubicBezTo>
                  <a:cubicBezTo>
                    <a:pt x="191" y="169"/>
                    <a:pt x="193" y="166"/>
                    <a:pt x="195" y="163"/>
                  </a:cubicBezTo>
                  <a:cubicBezTo>
                    <a:pt x="197" y="160"/>
                    <a:pt x="199" y="156"/>
                    <a:pt x="201" y="153"/>
                  </a:cubicBezTo>
                  <a:cubicBezTo>
                    <a:pt x="185" y="137"/>
                    <a:pt x="185" y="137"/>
                    <a:pt x="185" y="137"/>
                  </a:cubicBezTo>
                  <a:cubicBezTo>
                    <a:pt x="187" y="133"/>
                    <a:pt x="188" y="129"/>
                    <a:pt x="189" y="126"/>
                  </a:cubicBezTo>
                  <a:cubicBezTo>
                    <a:pt x="211" y="121"/>
                    <a:pt x="211" y="121"/>
                    <a:pt x="211" y="121"/>
                  </a:cubicBezTo>
                  <a:cubicBezTo>
                    <a:pt x="212" y="114"/>
                    <a:pt x="212" y="107"/>
                    <a:pt x="212" y="100"/>
                  </a:cubicBezTo>
                  <a:lnTo>
                    <a:pt x="190" y="93"/>
                  </a:lnTo>
                  <a:close/>
                  <a:moveTo>
                    <a:pt x="163" y="142"/>
                  </a:moveTo>
                  <a:cubicBezTo>
                    <a:pt x="143" y="174"/>
                    <a:pt x="101" y="183"/>
                    <a:pt x="70" y="163"/>
                  </a:cubicBezTo>
                  <a:cubicBezTo>
                    <a:pt x="38" y="143"/>
                    <a:pt x="29" y="101"/>
                    <a:pt x="49" y="70"/>
                  </a:cubicBezTo>
                  <a:cubicBezTo>
                    <a:pt x="70" y="38"/>
                    <a:pt x="111" y="29"/>
                    <a:pt x="143" y="49"/>
                  </a:cubicBezTo>
                  <a:cubicBezTo>
                    <a:pt x="174" y="69"/>
                    <a:pt x="183" y="111"/>
                    <a:pt x="163" y="1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Freeform 11"/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5522826" y="3382655"/>
              <a:ext cx="480687" cy="480687"/>
            </a:xfrm>
            <a:custGeom>
              <a:avLst/>
              <a:gdLst>
                <a:gd name="T0" fmla="*/ 2147483646 w 176"/>
                <a:gd name="T1" fmla="*/ 2147483646 h 176"/>
                <a:gd name="T2" fmla="*/ 2147483646 w 176"/>
                <a:gd name="T3" fmla="*/ 2147483646 h 176"/>
                <a:gd name="T4" fmla="*/ 2147483646 w 176"/>
                <a:gd name="T5" fmla="*/ 2147483646 h 176"/>
                <a:gd name="T6" fmla="*/ 2147483646 w 176"/>
                <a:gd name="T7" fmla="*/ 2147483646 h 176"/>
                <a:gd name="T8" fmla="*/ 2147483646 w 176"/>
                <a:gd name="T9" fmla="*/ 2147483646 h 176"/>
                <a:gd name="T10" fmla="*/ 2147483646 w 176"/>
                <a:gd name="T11" fmla="*/ 2147483646 h 176"/>
                <a:gd name="T12" fmla="*/ 2147483646 w 176"/>
                <a:gd name="T13" fmla="*/ 2147483646 h 176"/>
                <a:gd name="T14" fmla="*/ 2147483646 w 176"/>
                <a:gd name="T15" fmla="*/ 2147483646 h 176"/>
                <a:gd name="T16" fmla="*/ 2147483646 w 176"/>
                <a:gd name="T17" fmla="*/ 2147483646 h 176"/>
                <a:gd name="T18" fmla="*/ 2147483646 w 176"/>
                <a:gd name="T19" fmla="*/ 2147483646 h 176"/>
                <a:gd name="T20" fmla="*/ 2147483646 w 176"/>
                <a:gd name="T21" fmla="*/ 0 h 176"/>
                <a:gd name="T22" fmla="*/ 2147483646 w 176"/>
                <a:gd name="T23" fmla="*/ 2147483646 h 176"/>
                <a:gd name="T24" fmla="*/ 2147483646 w 176"/>
                <a:gd name="T25" fmla="*/ 2147483646 h 176"/>
                <a:gd name="T26" fmla="*/ 2147483646 w 176"/>
                <a:gd name="T27" fmla="*/ 2147483646 h 176"/>
                <a:gd name="T28" fmla="*/ 2147483646 w 176"/>
                <a:gd name="T29" fmla="*/ 2147483646 h 176"/>
                <a:gd name="T30" fmla="*/ 2147483646 w 176"/>
                <a:gd name="T31" fmla="*/ 2147483646 h 176"/>
                <a:gd name="T32" fmla="*/ 2147483646 w 176"/>
                <a:gd name="T33" fmla="*/ 2147483646 h 176"/>
                <a:gd name="T34" fmla="*/ 2147483646 w 176"/>
                <a:gd name="T35" fmla="*/ 2147483646 h 176"/>
                <a:gd name="T36" fmla="*/ 2147483646 w 176"/>
                <a:gd name="T37" fmla="*/ 2147483646 h 176"/>
                <a:gd name="T38" fmla="*/ 0 w 176"/>
                <a:gd name="T39" fmla="*/ 2147483646 h 176"/>
                <a:gd name="T40" fmla="*/ 2147483646 w 176"/>
                <a:gd name="T41" fmla="*/ 2147483646 h 176"/>
                <a:gd name="T42" fmla="*/ 2147483646 w 176"/>
                <a:gd name="T43" fmla="*/ 2147483646 h 176"/>
                <a:gd name="T44" fmla="*/ 2147483646 w 176"/>
                <a:gd name="T45" fmla="*/ 2147483646 h 176"/>
                <a:gd name="T46" fmla="*/ 2147483646 w 176"/>
                <a:gd name="T47" fmla="*/ 2147483646 h 176"/>
                <a:gd name="T48" fmla="*/ 2147483646 w 176"/>
                <a:gd name="T49" fmla="*/ 2147483646 h 176"/>
                <a:gd name="T50" fmla="*/ 2147483646 w 176"/>
                <a:gd name="T51" fmla="*/ 2147483646 h 176"/>
                <a:gd name="T52" fmla="*/ 2147483646 w 176"/>
                <a:gd name="T53" fmla="*/ 2147483646 h 176"/>
                <a:gd name="T54" fmla="*/ 2147483646 w 176"/>
                <a:gd name="T55" fmla="*/ 2147483646 h 176"/>
                <a:gd name="T56" fmla="*/ 2147483646 w 176"/>
                <a:gd name="T57" fmla="*/ 2147483646 h 176"/>
                <a:gd name="T58" fmla="*/ 2147483646 w 176"/>
                <a:gd name="T59" fmla="*/ 2147483646 h 176"/>
                <a:gd name="T60" fmla="*/ 2147483646 w 176"/>
                <a:gd name="T61" fmla="*/ 2147483646 h 176"/>
                <a:gd name="T62" fmla="*/ 2147483646 w 176"/>
                <a:gd name="T63" fmla="*/ 2147483646 h 176"/>
                <a:gd name="T64" fmla="*/ 2147483646 w 176"/>
                <a:gd name="T65" fmla="*/ 2147483646 h 176"/>
                <a:gd name="T66" fmla="*/ 2147483646 w 176"/>
                <a:gd name="T67" fmla="*/ 2147483646 h 176"/>
                <a:gd name="T68" fmla="*/ 2147483646 w 176"/>
                <a:gd name="T69" fmla="*/ 2147483646 h 176"/>
                <a:gd name="T70" fmla="*/ 2147483646 w 176"/>
                <a:gd name="T71" fmla="*/ 2147483646 h 176"/>
                <a:gd name="T72" fmla="*/ 2147483646 w 176"/>
                <a:gd name="T73" fmla="*/ 2147483646 h 176"/>
                <a:gd name="T74" fmla="*/ 2147483646 w 176"/>
                <a:gd name="T75" fmla="*/ 2147483646 h 176"/>
                <a:gd name="T76" fmla="*/ 2147483646 w 176"/>
                <a:gd name="T77" fmla="*/ 2147483646 h 176"/>
                <a:gd name="T78" fmla="*/ 2147483646 w 176"/>
                <a:gd name="T79" fmla="*/ 2147483646 h 176"/>
                <a:gd name="T80" fmla="*/ 2147483646 w 176"/>
                <a:gd name="T81" fmla="*/ 2147483646 h 176"/>
                <a:gd name="T82" fmla="*/ 2147483646 w 176"/>
                <a:gd name="T83" fmla="*/ 2147483646 h 17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76" h="176">
                  <a:moveTo>
                    <a:pt x="156" y="88"/>
                  </a:moveTo>
                  <a:cubicBezTo>
                    <a:pt x="176" y="75"/>
                    <a:pt x="176" y="75"/>
                    <a:pt x="176" y="75"/>
                  </a:cubicBezTo>
                  <a:cubicBezTo>
                    <a:pt x="175" y="69"/>
                    <a:pt x="174" y="64"/>
                    <a:pt x="172" y="58"/>
                  </a:cubicBezTo>
                  <a:cubicBezTo>
                    <a:pt x="147" y="55"/>
                    <a:pt x="147" y="55"/>
                    <a:pt x="147" y="55"/>
                  </a:cubicBezTo>
                  <a:cubicBezTo>
                    <a:pt x="145" y="51"/>
                    <a:pt x="142" y="47"/>
                    <a:pt x="138" y="43"/>
                  </a:cubicBezTo>
                  <a:cubicBezTo>
                    <a:pt x="144" y="20"/>
                    <a:pt x="144" y="20"/>
                    <a:pt x="144" y="20"/>
                  </a:cubicBezTo>
                  <a:cubicBezTo>
                    <a:pt x="141" y="18"/>
                    <a:pt x="139" y="16"/>
                    <a:pt x="136" y="14"/>
                  </a:cubicBezTo>
                  <a:cubicBezTo>
                    <a:pt x="134" y="12"/>
                    <a:pt x="131" y="11"/>
                    <a:pt x="128" y="10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4" y="23"/>
                    <a:pt x="99" y="22"/>
                    <a:pt x="94" y="21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76" y="1"/>
                    <a:pt x="70" y="2"/>
                    <a:pt x="64" y="4"/>
                  </a:cubicBezTo>
                  <a:cubicBezTo>
                    <a:pt x="61" y="27"/>
                    <a:pt x="61" y="27"/>
                    <a:pt x="61" y="27"/>
                  </a:cubicBezTo>
                  <a:cubicBezTo>
                    <a:pt x="55" y="29"/>
                    <a:pt x="50" y="33"/>
                    <a:pt x="45" y="37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18" y="34"/>
                    <a:pt x="16" y="38"/>
                    <a:pt x="14" y="41"/>
                  </a:cubicBezTo>
                  <a:cubicBezTo>
                    <a:pt x="13" y="42"/>
                    <a:pt x="13" y="43"/>
                    <a:pt x="12" y="44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23" y="70"/>
                    <a:pt x="22" y="77"/>
                    <a:pt x="21" y="85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1" y="103"/>
                    <a:pt x="1" y="107"/>
                    <a:pt x="3" y="111"/>
                  </a:cubicBezTo>
                  <a:cubicBezTo>
                    <a:pt x="26" y="114"/>
                    <a:pt x="26" y="114"/>
                    <a:pt x="26" y="114"/>
                  </a:cubicBezTo>
                  <a:cubicBezTo>
                    <a:pt x="29" y="122"/>
                    <a:pt x="34" y="130"/>
                    <a:pt x="41" y="137"/>
                  </a:cubicBezTo>
                  <a:cubicBezTo>
                    <a:pt x="36" y="160"/>
                    <a:pt x="36" y="160"/>
                    <a:pt x="36" y="160"/>
                  </a:cubicBezTo>
                  <a:cubicBezTo>
                    <a:pt x="37" y="161"/>
                    <a:pt x="39" y="163"/>
                    <a:pt x="41" y="164"/>
                  </a:cubicBezTo>
                  <a:cubicBezTo>
                    <a:pt x="42" y="165"/>
                    <a:pt x="44" y="166"/>
                    <a:pt x="46" y="167"/>
                  </a:cubicBezTo>
                  <a:cubicBezTo>
                    <a:pt x="65" y="152"/>
                    <a:pt x="65" y="152"/>
                    <a:pt x="65" y="152"/>
                  </a:cubicBezTo>
                  <a:cubicBezTo>
                    <a:pt x="74" y="155"/>
                    <a:pt x="83" y="157"/>
                    <a:pt x="92" y="156"/>
                  </a:cubicBezTo>
                  <a:cubicBezTo>
                    <a:pt x="104" y="176"/>
                    <a:pt x="104" y="176"/>
                    <a:pt x="104" y="176"/>
                  </a:cubicBezTo>
                  <a:cubicBezTo>
                    <a:pt x="109" y="175"/>
                    <a:pt x="113" y="174"/>
                    <a:pt x="117" y="173"/>
                  </a:cubicBezTo>
                  <a:cubicBezTo>
                    <a:pt x="120" y="149"/>
                    <a:pt x="120" y="149"/>
                    <a:pt x="120" y="149"/>
                  </a:cubicBezTo>
                  <a:cubicBezTo>
                    <a:pt x="127" y="145"/>
                    <a:pt x="133" y="140"/>
                    <a:pt x="139" y="134"/>
                  </a:cubicBezTo>
                  <a:cubicBezTo>
                    <a:pt x="162" y="139"/>
                    <a:pt x="162" y="139"/>
                    <a:pt x="162" y="139"/>
                  </a:cubicBezTo>
                  <a:cubicBezTo>
                    <a:pt x="162" y="138"/>
                    <a:pt x="163" y="138"/>
                    <a:pt x="163" y="137"/>
                  </a:cubicBezTo>
                  <a:cubicBezTo>
                    <a:pt x="165" y="133"/>
                    <a:pt x="167" y="130"/>
                    <a:pt x="169" y="126"/>
                  </a:cubicBezTo>
                  <a:cubicBezTo>
                    <a:pt x="154" y="106"/>
                    <a:pt x="154" y="106"/>
                    <a:pt x="154" y="106"/>
                  </a:cubicBezTo>
                  <a:cubicBezTo>
                    <a:pt x="156" y="100"/>
                    <a:pt x="156" y="94"/>
                    <a:pt x="156" y="88"/>
                  </a:cubicBezTo>
                  <a:close/>
                  <a:moveTo>
                    <a:pt x="131" y="116"/>
                  </a:moveTo>
                  <a:cubicBezTo>
                    <a:pt x="116" y="140"/>
                    <a:pt x="85" y="146"/>
                    <a:pt x="61" y="131"/>
                  </a:cubicBezTo>
                  <a:cubicBezTo>
                    <a:pt x="38" y="116"/>
                    <a:pt x="31" y="85"/>
                    <a:pt x="46" y="61"/>
                  </a:cubicBezTo>
                  <a:cubicBezTo>
                    <a:pt x="61" y="38"/>
                    <a:pt x="92" y="31"/>
                    <a:pt x="116" y="46"/>
                  </a:cubicBezTo>
                  <a:cubicBezTo>
                    <a:pt x="140" y="61"/>
                    <a:pt x="146" y="92"/>
                    <a:pt x="131" y="1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Freeform 12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5500872" y="3059116"/>
              <a:ext cx="358204" cy="367448"/>
            </a:xfrm>
            <a:custGeom>
              <a:avLst/>
              <a:gdLst>
                <a:gd name="T0" fmla="*/ 2147483646 w 131"/>
                <a:gd name="T1" fmla="*/ 2147483646 h 134"/>
                <a:gd name="T2" fmla="*/ 2147483646 w 131"/>
                <a:gd name="T3" fmla="*/ 2147483646 h 134"/>
                <a:gd name="T4" fmla="*/ 2147483646 w 131"/>
                <a:gd name="T5" fmla="*/ 2147483646 h 134"/>
                <a:gd name="T6" fmla="*/ 2147483646 w 131"/>
                <a:gd name="T7" fmla="*/ 2147483646 h 134"/>
                <a:gd name="T8" fmla="*/ 2147483646 w 131"/>
                <a:gd name="T9" fmla="*/ 2147483646 h 134"/>
                <a:gd name="T10" fmla="*/ 2147483646 w 131"/>
                <a:gd name="T11" fmla="*/ 2147483646 h 134"/>
                <a:gd name="T12" fmla="*/ 2147483646 w 131"/>
                <a:gd name="T13" fmla="*/ 2147483646 h 134"/>
                <a:gd name="T14" fmla="*/ 2147483646 w 131"/>
                <a:gd name="T15" fmla="*/ 2147483646 h 134"/>
                <a:gd name="T16" fmla="*/ 2147483646 w 131"/>
                <a:gd name="T17" fmla="*/ 2147483646 h 134"/>
                <a:gd name="T18" fmla="*/ 2147483646 w 131"/>
                <a:gd name="T19" fmla="*/ 2147483646 h 134"/>
                <a:gd name="T20" fmla="*/ 2147483646 w 131"/>
                <a:gd name="T21" fmla="*/ 2147483646 h 134"/>
                <a:gd name="T22" fmla="*/ 2147483646 w 131"/>
                <a:gd name="T23" fmla="*/ 2147483646 h 134"/>
                <a:gd name="T24" fmla="*/ 2147483646 w 131"/>
                <a:gd name="T25" fmla="*/ 2147483646 h 134"/>
                <a:gd name="T26" fmla="*/ 2147483646 w 131"/>
                <a:gd name="T27" fmla="*/ 2147483646 h 134"/>
                <a:gd name="T28" fmla="*/ 2147483646 w 131"/>
                <a:gd name="T29" fmla="*/ 2147483646 h 134"/>
                <a:gd name="T30" fmla="*/ 2147483646 w 131"/>
                <a:gd name="T31" fmla="*/ 2147483646 h 134"/>
                <a:gd name="T32" fmla="*/ 2147483646 w 131"/>
                <a:gd name="T33" fmla="*/ 2147483646 h 134"/>
                <a:gd name="T34" fmla="*/ 2147483646 w 131"/>
                <a:gd name="T35" fmla="*/ 2147483646 h 134"/>
                <a:gd name="T36" fmla="*/ 2147483646 w 131"/>
                <a:gd name="T37" fmla="*/ 2147483646 h 134"/>
                <a:gd name="T38" fmla="*/ 2147483646 w 131"/>
                <a:gd name="T39" fmla="*/ 2147483646 h 134"/>
                <a:gd name="T40" fmla="*/ 2147483646 w 131"/>
                <a:gd name="T41" fmla="*/ 2147483646 h 134"/>
                <a:gd name="T42" fmla="*/ 2147483646 w 131"/>
                <a:gd name="T43" fmla="*/ 2147483646 h 134"/>
                <a:gd name="T44" fmla="*/ 2147483646 w 131"/>
                <a:gd name="T45" fmla="*/ 2147483646 h 134"/>
                <a:gd name="T46" fmla="*/ 2147483646 w 131"/>
                <a:gd name="T47" fmla="*/ 0 h 134"/>
                <a:gd name="T48" fmla="*/ 2147483646 w 131"/>
                <a:gd name="T49" fmla="*/ 2147483646 h 134"/>
                <a:gd name="T50" fmla="*/ 2147483646 w 131"/>
                <a:gd name="T51" fmla="*/ 2147483646 h 134"/>
                <a:gd name="T52" fmla="*/ 2147483646 w 131"/>
                <a:gd name="T53" fmla="*/ 2147483646 h 134"/>
                <a:gd name="T54" fmla="*/ 2147483646 w 131"/>
                <a:gd name="T55" fmla="*/ 2147483646 h 134"/>
                <a:gd name="T56" fmla="*/ 0 w 131"/>
                <a:gd name="T57" fmla="*/ 2147483646 h 134"/>
                <a:gd name="T58" fmla="*/ 2147483646 w 131"/>
                <a:gd name="T59" fmla="*/ 2147483646 h 134"/>
                <a:gd name="T60" fmla="*/ 2147483646 w 131"/>
                <a:gd name="T61" fmla="*/ 2147483646 h 134"/>
                <a:gd name="T62" fmla="*/ 2147483646 w 131"/>
                <a:gd name="T63" fmla="*/ 2147483646 h 134"/>
                <a:gd name="T64" fmla="*/ 2147483646 w 131"/>
                <a:gd name="T65" fmla="*/ 2147483646 h 134"/>
                <a:gd name="T66" fmla="*/ 2147483646 w 131"/>
                <a:gd name="T67" fmla="*/ 2147483646 h 134"/>
                <a:gd name="T68" fmla="*/ 2147483646 w 131"/>
                <a:gd name="T69" fmla="*/ 2147483646 h 134"/>
                <a:gd name="T70" fmla="*/ 2147483646 w 131"/>
                <a:gd name="T71" fmla="*/ 2147483646 h 1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31" h="134">
                  <a:moveTo>
                    <a:pt x="14" y="79"/>
                  </a:moveTo>
                  <a:cubicBezTo>
                    <a:pt x="2" y="94"/>
                    <a:pt x="2" y="94"/>
                    <a:pt x="2" y="94"/>
                  </a:cubicBezTo>
                  <a:cubicBezTo>
                    <a:pt x="3" y="97"/>
                    <a:pt x="5" y="101"/>
                    <a:pt x="7" y="104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9" y="104"/>
                    <a:pt x="31" y="106"/>
                    <a:pt x="34" y="108"/>
                  </a:cubicBezTo>
                  <a:cubicBezTo>
                    <a:pt x="37" y="110"/>
                    <a:pt x="39" y="111"/>
                    <a:pt x="42" y="113"/>
                  </a:cubicBezTo>
                  <a:cubicBezTo>
                    <a:pt x="46" y="132"/>
                    <a:pt x="46" y="132"/>
                    <a:pt x="46" y="132"/>
                  </a:cubicBezTo>
                  <a:cubicBezTo>
                    <a:pt x="50" y="133"/>
                    <a:pt x="54" y="134"/>
                    <a:pt x="58" y="134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75" y="117"/>
                    <a:pt x="81" y="115"/>
                    <a:pt x="87" y="112"/>
                  </a:cubicBezTo>
                  <a:cubicBezTo>
                    <a:pt x="104" y="121"/>
                    <a:pt x="104" y="121"/>
                    <a:pt x="104" y="121"/>
                  </a:cubicBezTo>
                  <a:cubicBezTo>
                    <a:pt x="108" y="118"/>
                    <a:pt x="111" y="116"/>
                    <a:pt x="113" y="113"/>
                  </a:cubicBezTo>
                  <a:cubicBezTo>
                    <a:pt x="107" y="94"/>
                    <a:pt x="107" y="94"/>
                    <a:pt x="107" y="94"/>
                  </a:cubicBezTo>
                  <a:cubicBezTo>
                    <a:pt x="110" y="88"/>
                    <a:pt x="112" y="82"/>
                    <a:pt x="113" y="76"/>
                  </a:cubicBezTo>
                  <a:cubicBezTo>
                    <a:pt x="131" y="68"/>
                    <a:pt x="131" y="68"/>
                    <a:pt x="131" y="68"/>
                  </a:cubicBezTo>
                  <a:cubicBezTo>
                    <a:pt x="131" y="64"/>
                    <a:pt x="131" y="59"/>
                    <a:pt x="130" y="55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09" y="44"/>
                    <a:pt x="107" y="40"/>
                    <a:pt x="104" y="36"/>
                  </a:cubicBezTo>
                  <a:cubicBezTo>
                    <a:pt x="109" y="17"/>
                    <a:pt x="109" y="17"/>
                    <a:pt x="109" y="17"/>
                  </a:cubicBezTo>
                  <a:cubicBezTo>
                    <a:pt x="107" y="15"/>
                    <a:pt x="105" y="13"/>
                    <a:pt x="103" y="12"/>
                  </a:cubicBezTo>
                  <a:cubicBezTo>
                    <a:pt x="101" y="11"/>
                    <a:pt x="99" y="9"/>
                    <a:pt x="97" y="8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76" y="17"/>
                    <a:pt x="71" y="16"/>
                    <a:pt x="66" y="16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0" y="1"/>
                    <a:pt x="45" y="2"/>
                    <a:pt x="41" y="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3" y="26"/>
                    <a:pt x="29" y="30"/>
                    <a:pt x="25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2" y="38"/>
                    <a:pt x="1" y="41"/>
                    <a:pt x="0" y="45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3" y="65"/>
                    <a:pt x="13" y="72"/>
                    <a:pt x="14" y="79"/>
                  </a:cubicBezTo>
                  <a:close/>
                  <a:moveTo>
                    <a:pt x="32" y="45"/>
                  </a:moveTo>
                  <a:cubicBezTo>
                    <a:pt x="45" y="28"/>
                    <a:pt x="69" y="24"/>
                    <a:pt x="86" y="36"/>
                  </a:cubicBezTo>
                  <a:cubicBezTo>
                    <a:pt x="103" y="49"/>
                    <a:pt x="106" y="72"/>
                    <a:pt x="94" y="89"/>
                  </a:cubicBezTo>
                  <a:cubicBezTo>
                    <a:pt x="82" y="106"/>
                    <a:pt x="58" y="110"/>
                    <a:pt x="41" y="98"/>
                  </a:cubicBezTo>
                  <a:cubicBezTo>
                    <a:pt x="24" y="86"/>
                    <a:pt x="20" y="62"/>
                    <a:pt x="32" y="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2" name="任意多边形 44"/>
          <p:cNvSpPr/>
          <p:nvPr>
            <p:custDataLst>
              <p:tags r:id="rId19"/>
            </p:custDataLst>
          </p:nvPr>
        </p:nvSpPr>
        <p:spPr bwMode="auto">
          <a:xfrm>
            <a:off x="9763866" y="1608507"/>
            <a:ext cx="955675" cy="990600"/>
          </a:xfrm>
          <a:custGeom>
            <a:avLst/>
            <a:gdLst>
              <a:gd name="T0" fmla="*/ 516215 w 956752"/>
              <a:gd name="T1" fmla="*/ 952455 h 990261"/>
              <a:gd name="T2" fmla="*/ 516215 w 956752"/>
              <a:gd name="T3" fmla="*/ 990600 h 990261"/>
              <a:gd name="T4" fmla="*/ 433978 w 956752"/>
              <a:gd name="T5" fmla="*/ 971527 h 990261"/>
              <a:gd name="T6" fmla="*/ 409513 w 956752"/>
              <a:gd name="T7" fmla="*/ 896972 h 990261"/>
              <a:gd name="T8" fmla="*/ 562095 w 956752"/>
              <a:gd name="T9" fmla="*/ 916623 h 990261"/>
              <a:gd name="T10" fmla="*/ 409513 w 956752"/>
              <a:gd name="T11" fmla="*/ 936272 h 990261"/>
              <a:gd name="T12" fmla="*/ 409513 w 956752"/>
              <a:gd name="T13" fmla="*/ 896972 h 990261"/>
              <a:gd name="T14" fmla="*/ 570707 w 956752"/>
              <a:gd name="T15" fmla="*/ 844957 h 990261"/>
              <a:gd name="T16" fmla="*/ 570707 w 956752"/>
              <a:gd name="T17" fmla="*/ 884258 h 990261"/>
              <a:gd name="T18" fmla="*/ 371651 w 956752"/>
              <a:gd name="T19" fmla="*/ 864608 h 990261"/>
              <a:gd name="T20" fmla="*/ 390739 w 956752"/>
              <a:gd name="T21" fmla="*/ 794098 h 990261"/>
              <a:gd name="T22" fmla="*/ 589794 w 956752"/>
              <a:gd name="T23" fmla="*/ 813170 h 990261"/>
              <a:gd name="T24" fmla="*/ 390739 w 956752"/>
              <a:gd name="T25" fmla="*/ 832243 h 990261"/>
              <a:gd name="T26" fmla="*/ 390739 w 956752"/>
              <a:gd name="T27" fmla="*/ 794098 h 990261"/>
              <a:gd name="T28" fmla="*/ 289887 w 956752"/>
              <a:gd name="T29" fmla="*/ 678998 h 990261"/>
              <a:gd name="T30" fmla="*/ 191476 w 956752"/>
              <a:gd name="T31" fmla="*/ 820605 h 990261"/>
              <a:gd name="T32" fmla="*/ 155938 w 956752"/>
              <a:gd name="T33" fmla="*/ 785204 h 990261"/>
              <a:gd name="T34" fmla="*/ 273485 w 956752"/>
              <a:gd name="T35" fmla="*/ 670488 h 990261"/>
              <a:gd name="T36" fmla="*/ 695981 w 956752"/>
              <a:gd name="T37" fmla="*/ 676275 h 990261"/>
              <a:gd name="T38" fmla="*/ 794665 w 956752"/>
              <a:gd name="T39" fmla="*/ 820605 h 990261"/>
              <a:gd name="T40" fmla="*/ 660345 w 956752"/>
              <a:gd name="T41" fmla="*/ 708954 h 990261"/>
              <a:gd name="T42" fmla="*/ 680562 w 956752"/>
              <a:gd name="T43" fmla="*/ 670148 h 990261"/>
              <a:gd name="T44" fmla="*/ 933827 w 956752"/>
              <a:gd name="T45" fmla="*/ 478540 h 990261"/>
              <a:gd name="T46" fmla="*/ 933827 w 956752"/>
              <a:gd name="T47" fmla="*/ 528244 h 990261"/>
              <a:gd name="T48" fmla="*/ 761770 w 956752"/>
              <a:gd name="T49" fmla="*/ 503391 h 990261"/>
              <a:gd name="T50" fmla="*/ 21848 w 956752"/>
              <a:gd name="T51" fmla="*/ 478540 h 990261"/>
              <a:gd name="T52" fmla="*/ 193905 w 956752"/>
              <a:gd name="T53" fmla="*/ 503391 h 990261"/>
              <a:gd name="T54" fmla="*/ 21848 w 956752"/>
              <a:gd name="T55" fmla="*/ 528244 h 990261"/>
              <a:gd name="T56" fmla="*/ 21848 w 956752"/>
              <a:gd name="T57" fmla="*/ 478540 h 990261"/>
              <a:gd name="T58" fmla="*/ 717911 w 956752"/>
              <a:gd name="T59" fmla="*/ 476043 h 990261"/>
              <a:gd name="T60" fmla="*/ 589775 w 956752"/>
              <a:gd name="T61" fmla="*/ 768668 h 990261"/>
              <a:gd name="T62" fmla="*/ 371672 w 956752"/>
              <a:gd name="T63" fmla="*/ 689359 h 990261"/>
              <a:gd name="T64" fmla="*/ 480723 w 956752"/>
              <a:gd name="T65" fmla="*/ 238113 h 990261"/>
              <a:gd name="T66" fmla="*/ 832814 w 956752"/>
              <a:gd name="T67" fmla="*/ 150784 h 990261"/>
              <a:gd name="T68" fmla="*/ 729214 w 956752"/>
              <a:gd name="T69" fmla="*/ 290029 h 990261"/>
              <a:gd name="T70" fmla="*/ 693772 w 956752"/>
              <a:gd name="T71" fmla="*/ 254535 h 990261"/>
              <a:gd name="T72" fmla="*/ 815434 w 956752"/>
              <a:gd name="T73" fmla="*/ 142252 h 990261"/>
              <a:gd name="T74" fmla="*/ 163658 w 956752"/>
              <a:gd name="T75" fmla="*/ 148054 h 990261"/>
              <a:gd name="T76" fmla="*/ 267258 w 956752"/>
              <a:gd name="T77" fmla="*/ 287298 h 990261"/>
              <a:gd name="T78" fmla="*/ 128216 w 956752"/>
              <a:gd name="T79" fmla="*/ 183548 h 990261"/>
              <a:gd name="T80" fmla="*/ 147300 w 956752"/>
              <a:gd name="T81" fmla="*/ 142252 h 990261"/>
              <a:gd name="T82" fmla="*/ 505539 w 956752"/>
              <a:gd name="T83" fmla="*/ 21880 h 990261"/>
              <a:gd name="T84" fmla="*/ 478203 w 956752"/>
              <a:gd name="T85" fmla="*/ 194189 h 990261"/>
              <a:gd name="T86" fmla="*/ 453600 w 956752"/>
              <a:gd name="T87" fmla="*/ 21880 h 9902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956752" h="990261">
                <a:moveTo>
                  <a:pt x="442700" y="952129"/>
                </a:moveTo>
                <a:cubicBezTo>
                  <a:pt x="516797" y="952129"/>
                  <a:pt x="516797" y="952129"/>
                  <a:pt x="516797" y="952129"/>
                </a:cubicBezTo>
                <a:cubicBezTo>
                  <a:pt x="519541" y="952129"/>
                  <a:pt x="522285" y="960300"/>
                  <a:pt x="522285" y="971195"/>
                </a:cubicBezTo>
                <a:cubicBezTo>
                  <a:pt x="522285" y="979366"/>
                  <a:pt x="519541" y="990261"/>
                  <a:pt x="516797" y="990261"/>
                </a:cubicBezTo>
                <a:cubicBezTo>
                  <a:pt x="442700" y="990261"/>
                  <a:pt x="442700" y="990261"/>
                  <a:pt x="442700" y="990261"/>
                </a:cubicBezTo>
                <a:cubicBezTo>
                  <a:pt x="439956" y="990261"/>
                  <a:pt x="434467" y="979366"/>
                  <a:pt x="434467" y="971195"/>
                </a:cubicBezTo>
                <a:cubicBezTo>
                  <a:pt x="434467" y="960300"/>
                  <a:pt x="439956" y="952129"/>
                  <a:pt x="442700" y="952129"/>
                </a:cubicBezTo>
                <a:close/>
                <a:moveTo>
                  <a:pt x="409975" y="896665"/>
                </a:moveTo>
                <a:cubicBezTo>
                  <a:pt x="549090" y="896665"/>
                  <a:pt x="549090" y="896665"/>
                  <a:pt x="549090" y="896665"/>
                </a:cubicBezTo>
                <a:cubicBezTo>
                  <a:pt x="557273" y="896665"/>
                  <a:pt x="562728" y="905084"/>
                  <a:pt x="562728" y="916309"/>
                </a:cubicBezTo>
                <a:cubicBezTo>
                  <a:pt x="562728" y="927533"/>
                  <a:pt x="557273" y="935952"/>
                  <a:pt x="549090" y="935952"/>
                </a:cubicBezTo>
                <a:cubicBezTo>
                  <a:pt x="409975" y="935952"/>
                  <a:pt x="409975" y="935952"/>
                  <a:pt x="409975" y="935952"/>
                </a:cubicBezTo>
                <a:cubicBezTo>
                  <a:pt x="401792" y="935952"/>
                  <a:pt x="396336" y="927533"/>
                  <a:pt x="396336" y="916309"/>
                </a:cubicBezTo>
                <a:cubicBezTo>
                  <a:pt x="396336" y="905084"/>
                  <a:pt x="401792" y="896665"/>
                  <a:pt x="409975" y="896665"/>
                </a:cubicBezTo>
                <a:close/>
                <a:moveTo>
                  <a:pt x="391179" y="844668"/>
                </a:moveTo>
                <a:cubicBezTo>
                  <a:pt x="571350" y="844668"/>
                  <a:pt x="571350" y="844668"/>
                  <a:pt x="571350" y="844668"/>
                </a:cubicBezTo>
                <a:cubicBezTo>
                  <a:pt x="582270" y="844668"/>
                  <a:pt x="590459" y="853087"/>
                  <a:pt x="590459" y="864312"/>
                </a:cubicBezTo>
                <a:cubicBezTo>
                  <a:pt x="590459" y="875536"/>
                  <a:pt x="582270" y="883955"/>
                  <a:pt x="571350" y="883955"/>
                </a:cubicBezTo>
                <a:cubicBezTo>
                  <a:pt x="391179" y="883955"/>
                  <a:pt x="391179" y="883955"/>
                  <a:pt x="391179" y="883955"/>
                </a:cubicBezTo>
                <a:cubicBezTo>
                  <a:pt x="380260" y="883955"/>
                  <a:pt x="372070" y="875536"/>
                  <a:pt x="372070" y="864312"/>
                </a:cubicBezTo>
                <a:cubicBezTo>
                  <a:pt x="372070" y="853087"/>
                  <a:pt x="380260" y="844668"/>
                  <a:pt x="391179" y="844668"/>
                </a:cubicBezTo>
                <a:close/>
                <a:moveTo>
                  <a:pt x="391179" y="793826"/>
                </a:moveTo>
                <a:cubicBezTo>
                  <a:pt x="571350" y="793826"/>
                  <a:pt x="571350" y="793826"/>
                  <a:pt x="571350" y="793826"/>
                </a:cubicBezTo>
                <a:cubicBezTo>
                  <a:pt x="582270" y="793826"/>
                  <a:pt x="590459" y="801997"/>
                  <a:pt x="590459" y="812892"/>
                </a:cubicBezTo>
                <a:cubicBezTo>
                  <a:pt x="590459" y="823787"/>
                  <a:pt x="582270" y="831958"/>
                  <a:pt x="571350" y="831958"/>
                </a:cubicBezTo>
                <a:cubicBezTo>
                  <a:pt x="391179" y="831958"/>
                  <a:pt x="391179" y="831958"/>
                  <a:pt x="391179" y="831958"/>
                </a:cubicBezTo>
                <a:cubicBezTo>
                  <a:pt x="380260" y="831958"/>
                  <a:pt x="372070" y="823787"/>
                  <a:pt x="372070" y="812892"/>
                </a:cubicBezTo>
                <a:cubicBezTo>
                  <a:pt x="372070" y="801997"/>
                  <a:pt x="380260" y="793826"/>
                  <a:pt x="391179" y="793826"/>
                </a:cubicBezTo>
                <a:close/>
                <a:moveTo>
                  <a:pt x="273793" y="670259"/>
                </a:moveTo>
                <a:cubicBezTo>
                  <a:pt x="279951" y="670599"/>
                  <a:pt x="286109" y="673322"/>
                  <a:pt x="290214" y="678766"/>
                </a:cubicBezTo>
                <a:cubicBezTo>
                  <a:pt x="301161" y="686933"/>
                  <a:pt x="303897" y="700544"/>
                  <a:pt x="295687" y="711433"/>
                </a:cubicBezTo>
                <a:lnTo>
                  <a:pt x="191692" y="820324"/>
                </a:lnTo>
                <a:cubicBezTo>
                  <a:pt x="183482" y="828491"/>
                  <a:pt x="167061" y="828491"/>
                  <a:pt x="158851" y="817602"/>
                </a:cubicBezTo>
                <a:cubicBezTo>
                  <a:pt x="147904" y="809435"/>
                  <a:pt x="147904" y="793102"/>
                  <a:pt x="156114" y="784935"/>
                </a:cubicBezTo>
                <a:cubicBezTo>
                  <a:pt x="257373" y="676044"/>
                  <a:pt x="257373" y="676044"/>
                  <a:pt x="257373" y="676044"/>
                </a:cubicBezTo>
                <a:cubicBezTo>
                  <a:pt x="261478" y="671960"/>
                  <a:pt x="267636" y="669919"/>
                  <a:pt x="273793" y="670259"/>
                </a:cubicBezTo>
                <a:close/>
                <a:moveTo>
                  <a:pt x="681329" y="669919"/>
                </a:moveTo>
                <a:cubicBezTo>
                  <a:pt x="687160" y="669919"/>
                  <a:pt x="692649" y="671961"/>
                  <a:pt x="696765" y="676044"/>
                </a:cubicBezTo>
                <a:lnTo>
                  <a:pt x="798305" y="784935"/>
                </a:lnTo>
                <a:cubicBezTo>
                  <a:pt x="806538" y="795824"/>
                  <a:pt x="806538" y="809435"/>
                  <a:pt x="795561" y="820324"/>
                </a:cubicBezTo>
                <a:cubicBezTo>
                  <a:pt x="784584" y="828491"/>
                  <a:pt x="770862" y="828491"/>
                  <a:pt x="762629" y="820324"/>
                </a:cubicBezTo>
                <a:cubicBezTo>
                  <a:pt x="661089" y="708711"/>
                  <a:pt x="661089" y="708711"/>
                  <a:pt x="661089" y="708711"/>
                </a:cubicBezTo>
                <a:cubicBezTo>
                  <a:pt x="652856" y="700544"/>
                  <a:pt x="652856" y="686933"/>
                  <a:pt x="663834" y="676044"/>
                </a:cubicBezTo>
                <a:cubicBezTo>
                  <a:pt x="669322" y="671961"/>
                  <a:pt x="675497" y="669919"/>
                  <a:pt x="681329" y="669919"/>
                </a:cubicBezTo>
                <a:close/>
                <a:moveTo>
                  <a:pt x="784501" y="478376"/>
                </a:moveTo>
                <a:cubicBezTo>
                  <a:pt x="934879" y="478376"/>
                  <a:pt x="934879" y="478376"/>
                  <a:pt x="934879" y="478376"/>
                </a:cubicBezTo>
                <a:cubicBezTo>
                  <a:pt x="948550" y="478376"/>
                  <a:pt x="956752" y="489417"/>
                  <a:pt x="956752" y="503219"/>
                </a:cubicBezTo>
                <a:cubicBezTo>
                  <a:pt x="956752" y="517021"/>
                  <a:pt x="948550" y="528063"/>
                  <a:pt x="934879" y="528063"/>
                </a:cubicBezTo>
                <a:lnTo>
                  <a:pt x="784501" y="528063"/>
                </a:lnTo>
                <a:cubicBezTo>
                  <a:pt x="773565" y="528063"/>
                  <a:pt x="762628" y="517021"/>
                  <a:pt x="762628" y="503219"/>
                </a:cubicBezTo>
                <a:cubicBezTo>
                  <a:pt x="762628" y="489417"/>
                  <a:pt x="773565" y="478376"/>
                  <a:pt x="784501" y="478376"/>
                </a:cubicBezTo>
                <a:close/>
                <a:moveTo>
                  <a:pt x="21873" y="478376"/>
                </a:moveTo>
                <a:lnTo>
                  <a:pt x="172251" y="478376"/>
                </a:lnTo>
                <a:cubicBezTo>
                  <a:pt x="185922" y="478376"/>
                  <a:pt x="194124" y="489417"/>
                  <a:pt x="194124" y="503219"/>
                </a:cubicBezTo>
                <a:cubicBezTo>
                  <a:pt x="194124" y="517021"/>
                  <a:pt x="185922" y="528063"/>
                  <a:pt x="172251" y="528063"/>
                </a:cubicBezTo>
                <a:cubicBezTo>
                  <a:pt x="21873" y="528063"/>
                  <a:pt x="21873" y="528063"/>
                  <a:pt x="21873" y="528063"/>
                </a:cubicBezTo>
                <a:cubicBezTo>
                  <a:pt x="10936" y="528063"/>
                  <a:pt x="0" y="517021"/>
                  <a:pt x="0" y="503219"/>
                </a:cubicBezTo>
                <a:cubicBezTo>
                  <a:pt x="0" y="489417"/>
                  <a:pt x="10936" y="478376"/>
                  <a:pt x="21873" y="478376"/>
                </a:cubicBezTo>
                <a:close/>
                <a:moveTo>
                  <a:pt x="481265" y="238032"/>
                </a:moveTo>
                <a:cubicBezTo>
                  <a:pt x="612275" y="238032"/>
                  <a:pt x="718720" y="344653"/>
                  <a:pt x="718720" y="475880"/>
                </a:cubicBezTo>
                <a:cubicBezTo>
                  <a:pt x="718720" y="568832"/>
                  <a:pt x="666862" y="648114"/>
                  <a:pt x="590440" y="689123"/>
                </a:cubicBezTo>
                <a:cubicBezTo>
                  <a:pt x="590440" y="689123"/>
                  <a:pt x="590440" y="689123"/>
                  <a:pt x="590440" y="768405"/>
                </a:cubicBezTo>
                <a:cubicBezTo>
                  <a:pt x="590440" y="768405"/>
                  <a:pt x="590440" y="768405"/>
                  <a:pt x="372091" y="768405"/>
                </a:cubicBezTo>
                <a:cubicBezTo>
                  <a:pt x="372091" y="768405"/>
                  <a:pt x="372091" y="768405"/>
                  <a:pt x="372091" y="689123"/>
                </a:cubicBezTo>
                <a:cubicBezTo>
                  <a:pt x="295668" y="648114"/>
                  <a:pt x="243810" y="568832"/>
                  <a:pt x="243810" y="475880"/>
                </a:cubicBezTo>
                <a:cubicBezTo>
                  <a:pt x="243810" y="344653"/>
                  <a:pt x="350256" y="238032"/>
                  <a:pt x="481265" y="238032"/>
                </a:cubicBezTo>
                <a:close/>
                <a:moveTo>
                  <a:pt x="816353" y="142203"/>
                </a:moveTo>
                <a:cubicBezTo>
                  <a:pt x="822153" y="142544"/>
                  <a:pt x="828294" y="145274"/>
                  <a:pt x="833753" y="150732"/>
                </a:cubicBezTo>
                <a:cubicBezTo>
                  <a:pt x="841941" y="158920"/>
                  <a:pt x="844670" y="175297"/>
                  <a:pt x="836482" y="183485"/>
                </a:cubicBezTo>
                <a:lnTo>
                  <a:pt x="730036" y="289930"/>
                </a:lnTo>
                <a:cubicBezTo>
                  <a:pt x="721848" y="298118"/>
                  <a:pt x="705472" y="295389"/>
                  <a:pt x="697284" y="287200"/>
                </a:cubicBezTo>
                <a:cubicBezTo>
                  <a:pt x="686366" y="276283"/>
                  <a:pt x="686366" y="262636"/>
                  <a:pt x="694554" y="254448"/>
                </a:cubicBezTo>
                <a:cubicBezTo>
                  <a:pt x="801000" y="148003"/>
                  <a:pt x="801000" y="148003"/>
                  <a:pt x="801000" y="148003"/>
                </a:cubicBezTo>
                <a:cubicBezTo>
                  <a:pt x="805094" y="143909"/>
                  <a:pt x="810553" y="141862"/>
                  <a:pt x="816353" y="142203"/>
                </a:cubicBezTo>
                <a:close/>
                <a:moveTo>
                  <a:pt x="147466" y="142203"/>
                </a:moveTo>
                <a:cubicBezTo>
                  <a:pt x="153607" y="141862"/>
                  <a:pt x="159748" y="143909"/>
                  <a:pt x="163842" y="148003"/>
                </a:cubicBezTo>
                <a:lnTo>
                  <a:pt x="270288" y="254448"/>
                </a:lnTo>
                <a:cubicBezTo>
                  <a:pt x="278476" y="262636"/>
                  <a:pt x="278476" y="276283"/>
                  <a:pt x="267559" y="287200"/>
                </a:cubicBezTo>
                <a:cubicBezTo>
                  <a:pt x="256641" y="295389"/>
                  <a:pt x="242994" y="298118"/>
                  <a:pt x="234806" y="289930"/>
                </a:cubicBezTo>
                <a:cubicBezTo>
                  <a:pt x="128360" y="183485"/>
                  <a:pt x="128360" y="183485"/>
                  <a:pt x="128360" y="183485"/>
                </a:cubicBezTo>
                <a:cubicBezTo>
                  <a:pt x="120172" y="175297"/>
                  <a:pt x="120172" y="158920"/>
                  <a:pt x="131089" y="150732"/>
                </a:cubicBezTo>
                <a:cubicBezTo>
                  <a:pt x="135183" y="145274"/>
                  <a:pt x="141324" y="142544"/>
                  <a:pt x="147466" y="142203"/>
                </a:cubicBezTo>
                <a:close/>
                <a:moveTo>
                  <a:pt x="478742" y="0"/>
                </a:moveTo>
                <a:cubicBezTo>
                  <a:pt x="495162" y="0"/>
                  <a:pt x="506109" y="10936"/>
                  <a:pt x="506109" y="21873"/>
                </a:cubicBezTo>
                <a:lnTo>
                  <a:pt x="506109" y="172250"/>
                </a:lnTo>
                <a:cubicBezTo>
                  <a:pt x="506109" y="183186"/>
                  <a:pt x="495162" y="194123"/>
                  <a:pt x="478742" y="194123"/>
                </a:cubicBezTo>
                <a:cubicBezTo>
                  <a:pt x="465058" y="194123"/>
                  <a:pt x="454111" y="183186"/>
                  <a:pt x="454111" y="172250"/>
                </a:cubicBezTo>
                <a:cubicBezTo>
                  <a:pt x="454111" y="21873"/>
                  <a:pt x="454111" y="21873"/>
                  <a:pt x="454111" y="21873"/>
                </a:cubicBezTo>
                <a:cubicBezTo>
                  <a:pt x="454111" y="10936"/>
                  <a:pt x="465058" y="0"/>
                  <a:pt x="47874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173" name="直接连接符 172"/>
          <p:cNvCxnSpPr/>
          <p:nvPr>
            <p:custDataLst>
              <p:tags r:id="rId20"/>
            </p:custDataLst>
          </p:nvPr>
        </p:nvCxnSpPr>
        <p:spPr>
          <a:xfrm>
            <a:off x="643345" y="3507792"/>
            <a:ext cx="261302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连接符 177"/>
          <p:cNvCxnSpPr/>
          <p:nvPr>
            <p:custDataLst>
              <p:tags r:id="rId21"/>
            </p:custDataLst>
          </p:nvPr>
        </p:nvCxnSpPr>
        <p:spPr>
          <a:xfrm>
            <a:off x="6189137" y="3507792"/>
            <a:ext cx="261143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/>
          <p:cNvCxnSpPr/>
          <p:nvPr>
            <p:custDataLst>
              <p:tags r:id="rId22"/>
            </p:custDataLst>
          </p:nvPr>
        </p:nvCxnSpPr>
        <p:spPr>
          <a:xfrm>
            <a:off x="8952654" y="3507792"/>
            <a:ext cx="261143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任意多边形 43"/>
          <p:cNvSpPr/>
          <p:nvPr>
            <p:custDataLst>
              <p:tags r:id="rId23"/>
            </p:custDataLst>
          </p:nvPr>
        </p:nvSpPr>
        <p:spPr bwMode="auto">
          <a:xfrm>
            <a:off x="4169601" y="1608507"/>
            <a:ext cx="1069975" cy="893763"/>
          </a:xfrm>
          <a:custGeom>
            <a:avLst/>
            <a:gdLst>
              <a:gd name="T0" fmla="*/ 210534 w 1068881"/>
              <a:gd name="T1" fmla="*/ 598908 h 894355"/>
              <a:gd name="T2" fmla="*/ 344907 w 1068881"/>
              <a:gd name="T3" fmla="*/ 598908 h 894355"/>
              <a:gd name="T4" fmla="*/ 383300 w 1068881"/>
              <a:gd name="T5" fmla="*/ 612531 h 894355"/>
              <a:gd name="T6" fmla="*/ 383300 w 1068881"/>
              <a:gd name="T7" fmla="*/ 879546 h 894355"/>
              <a:gd name="T8" fmla="*/ 344907 w 1068881"/>
              <a:gd name="T9" fmla="*/ 893169 h 894355"/>
              <a:gd name="T10" fmla="*/ 210534 w 1068881"/>
              <a:gd name="T11" fmla="*/ 893169 h 894355"/>
              <a:gd name="T12" fmla="*/ 174885 w 1068881"/>
              <a:gd name="T13" fmla="*/ 879546 h 894355"/>
              <a:gd name="T14" fmla="*/ 174885 w 1068881"/>
              <a:gd name="T15" fmla="*/ 612531 h 894355"/>
              <a:gd name="T16" fmla="*/ 210534 w 1068881"/>
              <a:gd name="T17" fmla="*/ 598908 h 894355"/>
              <a:gd name="T18" fmla="*/ 440751 w 1068881"/>
              <a:gd name="T19" fmla="*/ 445430 h 894355"/>
              <a:gd name="T20" fmla="*/ 574378 w 1068881"/>
              <a:gd name="T21" fmla="*/ 445430 h 894355"/>
              <a:gd name="T22" fmla="*/ 612557 w 1068881"/>
              <a:gd name="T23" fmla="*/ 464542 h 894355"/>
              <a:gd name="T24" fmla="*/ 612557 w 1068881"/>
              <a:gd name="T25" fmla="*/ 871329 h 894355"/>
              <a:gd name="T26" fmla="*/ 574378 w 1068881"/>
              <a:gd name="T27" fmla="*/ 893169 h 894355"/>
              <a:gd name="T28" fmla="*/ 440751 w 1068881"/>
              <a:gd name="T29" fmla="*/ 893169 h 894355"/>
              <a:gd name="T30" fmla="*/ 405299 w 1068881"/>
              <a:gd name="T31" fmla="*/ 871329 h 894355"/>
              <a:gd name="T32" fmla="*/ 405299 w 1068881"/>
              <a:gd name="T33" fmla="*/ 464542 h 894355"/>
              <a:gd name="T34" fmla="*/ 440751 w 1068881"/>
              <a:gd name="T35" fmla="*/ 445430 h 894355"/>
              <a:gd name="T36" fmla="*/ 670280 w 1068881"/>
              <a:gd name="T37" fmla="*/ 265412 h 894355"/>
              <a:gd name="T38" fmla="*/ 804931 w 1068881"/>
              <a:gd name="T39" fmla="*/ 265412 h 894355"/>
              <a:gd name="T40" fmla="*/ 840656 w 1068881"/>
              <a:gd name="T41" fmla="*/ 292706 h 894355"/>
              <a:gd name="T42" fmla="*/ 840656 w 1068881"/>
              <a:gd name="T43" fmla="*/ 863145 h 894355"/>
              <a:gd name="T44" fmla="*/ 804931 w 1068881"/>
              <a:gd name="T45" fmla="*/ 893168 h 894355"/>
              <a:gd name="T46" fmla="*/ 670280 w 1068881"/>
              <a:gd name="T47" fmla="*/ 893168 h 894355"/>
              <a:gd name="T48" fmla="*/ 634556 w 1068881"/>
              <a:gd name="T49" fmla="*/ 863145 h 894355"/>
              <a:gd name="T50" fmla="*/ 634556 w 1068881"/>
              <a:gd name="T51" fmla="*/ 292706 h 894355"/>
              <a:gd name="T52" fmla="*/ 670280 w 1068881"/>
              <a:gd name="T53" fmla="*/ 265412 h 894355"/>
              <a:gd name="T54" fmla="*/ 900695 w 1068881"/>
              <a:gd name="T55" fmla="*/ 125782 h 894355"/>
              <a:gd name="T56" fmla="*/ 1035347 w 1068881"/>
              <a:gd name="T57" fmla="*/ 125782 h 894355"/>
              <a:gd name="T58" fmla="*/ 1071070 w 1068881"/>
              <a:gd name="T59" fmla="*/ 161284 h 894355"/>
              <a:gd name="T60" fmla="*/ 1071070 w 1068881"/>
              <a:gd name="T61" fmla="*/ 857668 h 894355"/>
              <a:gd name="T62" fmla="*/ 1035347 w 1068881"/>
              <a:gd name="T63" fmla="*/ 893169 h 894355"/>
              <a:gd name="T64" fmla="*/ 900695 w 1068881"/>
              <a:gd name="T65" fmla="*/ 893169 h 894355"/>
              <a:gd name="T66" fmla="*/ 864970 w 1068881"/>
              <a:gd name="T67" fmla="*/ 857668 h 894355"/>
              <a:gd name="T68" fmla="*/ 864970 w 1068881"/>
              <a:gd name="T69" fmla="*/ 161284 h 894355"/>
              <a:gd name="T70" fmla="*/ 900695 w 1068881"/>
              <a:gd name="T71" fmla="*/ 125782 h 894355"/>
              <a:gd name="T72" fmla="*/ 840656 w 1068881"/>
              <a:gd name="T73" fmla="*/ 0 h 894355"/>
              <a:gd name="T74" fmla="*/ 786236 w 1068881"/>
              <a:gd name="T75" fmla="*/ 177710 h 894355"/>
              <a:gd name="T76" fmla="*/ 735838 w 1068881"/>
              <a:gd name="T77" fmla="*/ 135150 h 894355"/>
              <a:gd name="T78" fmla="*/ 650058 w 1068881"/>
              <a:gd name="T79" fmla="*/ 208382 h 894355"/>
              <a:gd name="T80" fmla="*/ 429687 w 1068881"/>
              <a:gd name="T81" fmla="*/ 396508 h 894355"/>
              <a:gd name="T82" fmla="*/ 391310 w 1068881"/>
              <a:gd name="T83" fmla="*/ 401960 h 894355"/>
              <a:gd name="T84" fmla="*/ 369380 w 1068881"/>
              <a:gd name="T85" fmla="*/ 374696 h 894355"/>
              <a:gd name="T86" fmla="*/ 369380 w 1068881"/>
              <a:gd name="T87" fmla="*/ 284725 h 894355"/>
              <a:gd name="T88" fmla="*/ 59621 w 1068881"/>
              <a:gd name="T89" fmla="*/ 549186 h 894355"/>
              <a:gd name="T90" fmla="*/ 34951 w 1068881"/>
              <a:gd name="T91" fmla="*/ 557365 h 894355"/>
              <a:gd name="T92" fmla="*/ 10279 w 1068881"/>
              <a:gd name="T93" fmla="*/ 549186 h 894355"/>
              <a:gd name="T94" fmla="*/ 10279 w 1068881"/>
              <a:gd name="T95" fmla="*/ 505564 h 894355"/>
              <a:gd name="T96" fmla="*/ 380345 w 1068881"/>
              <a:gd name="T97" fmla="*/ 186575 h 894355"/>
              <a:gd name="T98" fmla="*/ 418723 w 1068881"/>
              <a:gd name="T99" fmla="*/ 181123 h 894355"/>
              <a:gd name="T100" fmla="*/ 440653 w 1068881"/>
              <a:gd name="T101" fmla="*/ 208387 h 894355"/>
              <a:gd name="T102" fmla="*/ 440653 w 1068881"/>
              <a:gd name="T103" fmla="*/ 301084 h 894355"/>
              <a:gd name="T104" fmla="*/ 673315 w 1068881"/>
              <a:gd name="T105" fmla="*/ 103080 h 894355"/>
              <a:gd name="T106" fmla="*/ 685540 w 1068881"/>
              <a:gd name="T107" fmla="*/ 92675 h 894355"/>
              <a:gd name="T108" fmla="*/ 634556 w 1068881"/>
              <a:gd name="T109" fmla="*/ 49620 h 894355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1068881" h="894355">
                <a:moveTo>
                  <a:pt x="210104" y="599703"/>
                </a:moveTo>
                <a:cubicBezTo>
                  <a:pt x="344202" y="599703"/>
                  <a:pt x="344202" y="599703"/>
                  <a:pt x="344202" y="599703"/>
                </a:cubicBezTo>
                <a:cubicBezTo>
                  <a:pt x="366096" y="599703"/>
                  <a:pt x="382516" y="605160"/>
                  <a:pt x="382516" y="613344"/>
                </a:cubicBezTo>
                <a:lnTo>
                  <a:pt x="382516" y="880714"/>
                </a:lnTo>
                <a:cubicBezTo>
                  <a:pt x="382516" y="888899"/>
                  <a:pt x="366096" y="894355"/>
                  <a:pt x="344202" y="894355"/>
                </a:cubicBezTo>
                <a:cubicBezTo>
                  <a:pt x="210104" y="894355"/>
                  <a:pt x="210104" y="894355"/>
                  <a:pt x="210104" y="894355"/>
                </a:cubicBezTo>
                <a:cubicBezTo>
                  <a:pt x="190947" y="894355"/>
                  <a:pt x="174527" y="888899"/>
                  <a:pt x="174527" y="880714"/>
                </a:cubicBezTo>
                <a:cubicBezTo>
                  <a:pt x="174527" y="613344"/>
                  <a:pt x="174527" y="613344"/>
                  <a:pt x="174527" y="613344"/>
                </a:cubicBezTo>
                <a:cubicBezTo>
                  <a:pt x="174527" y="605160"/>
                  <a:pt x="190947" y="599703"/>
                  <a:pt x="210104" y="599703"/>
                </a:cubicBezTo>
                <a:close/>
                <a:moveTo>
                  <a:pt x="439850" y="446022"/>
                </a:moveTo>
                <a:cubicBezTo>
                  <a:pt x="573204" y="446022"/>
                  <a:pt x="573204" y="446022"/>
                  <a:pt x="573204" y="446022"/>
                </a:cubicBezTo>
                <a:cubicBezTo>
                  <a:pt x="594976" y="446022"/>
                  <a:pt x="611305" y="454223"/>
                  <a:pt x="611305" y="465158"/>
                </a:cubicBezTo>
                <a:lnTo>
                  <a:pt x="611305" y="872485"/>
                </a:lnTo>
                <a:cubicBezTo>
                  <a:pt x="611305" y="883420"/>
                  <a:pt x="594976" y="894355"/>
                  <a:pt x="573204" y="894355"/>
                </a:cubicBezTo>
                <a:cubicBezTo>
                  <a:pt x="439850" y="894355"/>
                  <a:pt x="439850" y="894355"/>
                  <a:pt x="439850" y="894355"/>
                </a:cubicBezTo>
                <a:cubicBezTo>
                  <a:pt x="420800" y="894355"/>
                  <a:pt x="404471" y="883420"/>
                  <a:pt x="404471" y="872485"/>
                </a:cubicBezTo>
                <a:cubicBezTo>
                  <a:pt x="404471" y="465158"/>
                  <a:pt x="404471" y="465158"/>
                  <a:pt x="404471" y="465158"/>
                </a:cubicBezTo>
                <a:cubicBezTo>
                  <a:pt x="404471" y="454223"/>
                  <a:pt x="420800" y="446022"/>
                  <a:pt x="439850" y="446022"/>
                </a:cubicBezTo>
                <a:close/>
                <a:moveTo>
                  <a:pt x="668910" y="265764"/>
                </a:moveTo>
                <a:cubicBezTo>
                  <a:pt x="803286" y="265764"/>
                  <a:pt x="803286" y="265764"/>
                  <a:pt x="803286" y="265764"/>
                </a:cubicBezTo>
                <a:cubicBezTo>
                  <a:pt x="825225" y="265764"/>
                  <a:pt x="838937" y="276696"/>
                  <a:pt x="838937" y="293094"/>
                </a:cubicBezTo>
                <a:lnTo>
                  <a:pt x="838937" y="864291"/>
                </a:lnTo>
                <a:cubicBezTo>
                  <a:pt x="838937" y="880689"/>
                  <a:pt x="825225" y="894354"/>
                  <a:pt x="803286" y="894354"/>
                </a:cubicBezTo>
                <a:cubicBezTo>
                  <a:pt x="668910" y="894354"/>
                  <a:pt x="668910" y="894354"/>
                  <a:pt x="668910" y="894354"/>
                </a:cubicBezTo>
                <a:cubicBezTo>
                  <a:pt x="649713" y="894354"/>
                  <a:pt x="633259" y="880689"/>
                  <a:pt x="633259" y="864291"/>
                </a:cubicBezTo>
                <a:cubicBezTo>
                  <a:pt x="633259" y="293094"/>
                  <a:pt x="633259" y="293094"/>
                  <a:pt x="633259" y="293094"/>
                </a:cubicBezTo>
                <a:cubicBezTo>
                  <a:pt x="633259" y="276696"/>
                  <a:pt x="649713" y="265764"/>
                  <a:pt x="668910" y="265764"/>
                </a:cubicBezTo>
                <a:close/>
                <a:moveTo>
                  <a:pt x="898854" y="125949"/>
                </a:moveTo>
                <a:cubicBezTo>
                  <a:pt x="1033230" y="125949"/>
                  <a:pt x="1033230" y="125949"/>
                  <a:pt x="1033230" y="125949"/>
                </a:cubicBezTo>
                <a:cubicBezTo>
                  <a:pt x="1052427" y="125949"/>
                  <a:pt x="1068881" y="142356"/>
                  <a:pt x="1068881" y="161498"/>
                </a:cubicBezTo>
                <a:lnTo>
                  <a:pt x="1068881" y="858806"/>
                </a:lnTo>
                <a:cubicBezTo>
                  <a:pt x="1068881" y="877948"/>
                  <a:pt x="1052427" y="894355"/>
                  <a:pt x="1033230" y="894355"/>
                </a:cubicBezTo>
                <a:cubicBezTo>
                  <a:pt x="898854" y="894355"/>
                  <a:pt x="898854" y="894355"/>
                  <a:pt x="898854" y="894355"/>
                </a:cubicBezTo>
                <a:cubicBezTo>
                  <a:pt x="879657" y="894355"/>
                  <a:pt x="863203" y="877948"/>
                  <a:pt x="863203" y="858806"/>
                </a:cubicBezTo>
                <a:cubicBezTo>
                  <a:pt x="863203" y="161498"/>
                  <a:pt x="863203" y="161498"/>
                  <a:pt x="863203" y="161498"/>
                </a:cubicBezTo>
                <a:cubicBezTo>
                  <a:pt x="863203" y="142356"/>
                  <a:pt x="879657" y="125949"/>
                  <a:pt x="898854" y="125949"/>
                </a:cubicBezTo>
                <a:close/>
                <a:moveTo>
                  <a:pt x="838937" y="0"/>
                </a:moveTo>
                <a:lnTo>
                  <a:pt x="784629" y="177946"/>
                </a:lnTo>
                <a:lnTo>
                  <a:pt x="734334" y="135330"/>
                </a:lnTo>
                <a:lnTo>
                  <a:pt x="648729" y="208658"/>
                </a:lnTo>
                <a:cubicBezTo>
                  <a:pt x="428809" y="397034"/>
                  <a:pt x="428809" y="397034"/>
                  <a:pt x="428809" y="397034"/>
                </a:cubicBezTo>
                <a:cubicBezTo>
                  <a:pt x="417867" y="405224"/>
                  <a:pt x="404189" y="407954"/>
                  <a:pt x="390510" y="402494"/>
                </a:cubicBezTo>
                <a:cubicBezTo>
                  <a:pt x="376832" y="399764"/>
                  <a:pt x="368625" y="388844"/>
                  <a:pt x="368625" y="375194"/>
                </a:cubicBezTo>
                <a:cubicBezTo>
                  <a:pt x="368625" y="285103"/>
                  <a:pt x="368625" y="285103"/>
                  <a:pt x="368625" y="285103"/>
                </a:cubicBezTo>
                <a:cubicBezTo>
                  <a:pt x="59499" y="549915"/>
                  <a:pt x="59499" y="549915"/>
                  <a:pt x="59499" y="549915"/>
                </a:cubicBezTo>
                <a:cubicBezTo>
                  <a:pt x="54028" y="555375"/>
                  <a:pt x="43086" y="558105"/>
                  <a:pt x="34879" y="558105"/>
                </a:cubicBezTo>
                <a:cubicBezTo>
                  <a:pt x="26672" y="558105"/>
                  <a:pt x="15729" y="555375"/>
                  <a:pt x="10258" y="549915"/>
                </a:cubicBezTo>
                <a:cubicBezTo>
                  <a:pt x="-3420" y="536265"/>
                  <a:pt x="-3420" y="517155"/>
                  <a:pt x="10258" y="506235"/>
                </a:cubicBezTo>
                <a:cubicBezTo>
                  <a:pt x="379568" y="186823"/>
                  <a:pt x="379568" y="186823"/>
                  <a:pt x="379568" y="186823"/>
                </a:cubicBezTo>
                <a:cubicBezTo>
                  <a:pt x="387775" y="178633"/>
                  <a:pt x="404189" y="175903"/>
                  <a:pt x="417867" y="181363"/>
                </a:cubicBezTo>
                <a:cubicBezTo>
                  <a:pt x="431545" y="186823"/>
                  <a:pt x="439752" y="197743"/>
                  <a:pt x="439752" y="208663"/>
                </a:cubicBezTo>
                <a:cubicBezTo>
                  <a:pt x="439752" y="301484"/>
                  <a:pt x="439752" y="301484"/>
                  <a:pt x="439752" y="301484"/>
                </a:cubicBezTo>
                <a:cubicBezTo>
                  <a:pt x="572430" y="188188"/>
                  <a:pt x="638769" y="131540"/>
                  <a:pt x="671939" y="103216"/>
                </a:cubicBezTo>
                <a:lnTo>
                  <a:pt x="684139" y="92798"/>
                </a:lnTo>
                <a:lnTo>
                  <a:pt x="633259" y="49686"/>
                </a:lnTo>
                <a:lnTo>
                  <a:pt x="83893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312420" y="294005"/>
            <a:ext cx="8343265" cy="954405"/>
          </a:xfrm>
          <a:prstGeom prst="rect">
            <a:avLst/>
          </a:prstGeom>
          <a:solidFill>
            <a:schemeClr val="bg1"/>
          </a:solidFill>
          <a:ln w="3175">
            <a:solidFill>
              <a:srgbClr val="7BB6E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en-US" sz="3200" b="1">
                <a:solidFill>
                  <a:srgbClr val="7BB6E1"/>
                </a:solidFill>
                <a:latin typeface="Segoe UI" panose="020B0502040204020203" charset="0"/>
                <a:cs typeface="Segoe UI" panose="020B0502040204020203" charset="0"/>
              </a:rPr>
              <a:t>Project Overview :</a:t>
            </a:r>
            <a:br>
              <a:rPr lang="en-US" altLang="en-US" sz="3200" b="1">
                <a:solidFill>
                  <a:srgbClr val="7BB6E1"/>
                </a:solidFill>
                <a:latin typeface="Segoe UI" panose="020B0502040204020203" charset="0"/>
                <a:cs typeface="Segoe UI" panose="020B0502040204020203" charset="0"/>
              </a:rPr>
            </a:br>
            <a:r>
              <a:rPr lang="en-US" altLang="en-US" sz="3200" b="1">
                <a:solidFill>
                  <a:srgbClr val="7BB6E1"/>
                </a:solidFill>
                <a:latin typeface="Segoe UI" panose="020B0502040204020203" charset="0"/>
                <a:cs typeface="Segoe UI" panose="020B0502040204020203" charset="0"/>
              </a:rPr>
              <a:t>The 4 pillars of Security</a:t>
            </a:r>
            <a:endParaRPr lang="en-US" altLang="en-US" sz="3200" b="1">
              <a:solidFill>
                <a:srgbClr val="7BB6E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224225" y="329761"/>
            <a:ext cx="309880" cy="52197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0" y="223881"/>
            <a:ext cx="209550" cy="793257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74037" y="109581"/>
            <a:ext cx="12041763" cy="6618862"/>
          </a:xfrm>
          <a:prstGeom prst="rect">
            <a:avLst/>
          </a:prstGeom>
          <a:noFill/>
          <a:ln>
            <a:solidFill>
              <a:srgbClr val="7BB6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2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312592" y="293817"/>
            <a:ext cx="4125720" cy="595108"/>
          </a:xfrm>
          <a:prstGeom prst="rect">
            <a:avLst/>
          </a:prstGeom>
          <a:solidFill>
            <a:schemeClr val="bg1"/>
          </a:solidFill>
          <a:ln w="3175">
            <a:solidFill>
              <a:srgbClr val="7BB6E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89113" y="329761"/>
            <a:ext cx="3380105" cy="52197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7BB6E1"/>
                </a:solidFill>
                <a:latin typeface="Segoe UI" panose="020B0502040204020203" charset="0"/>
                <a:ea typeface="Microsoft YaHei" panose="020B0503020204020204" pitchFamily="34" charset="-122"/>
                <a:cs typeface="Segoe UI" panose="020B0502040204020203" charset="0"/>
              </a:rPr>
              <a:t>Project Objectives</a:t>
            </a:r>
            <a:r>
              <a:rPr lang="en-US" altLang="zh-CN" sz="2800" dirty="0">
                <a:solidFill>
                  <a:srgbClr val="7BB6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endParaRPr lang="en-US" altLang="zh-CN" sz="2800" dirty="0">
              <a:solidFill>
                <a:srgbClr val="7BB6E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223881"/>
            <a:ext cx="209550" cy="793257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4037" y="109581"/>
            <a:ext cx="12041763" cy="6618862"/>
          </a:xfrm>
          <a:prstGeom prst="rect">
            <a:avLst/>
          </a:prstGeom>
          <a:noFill/>
          <a:ln>
            <a:solidFill>
              <a:srgbClr val="7BB6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908050" y="1219835"/>
            <a:ext cx="10436860" cy="4667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b="1" u="sng">
                <a:latin typeface="Segoe UI" panose="020B0502040204020203" charset="0"/>
                <a:cs typeface="Segoe UI" panose="020B0502040204020203" charset="0"/>
              </a:rPr>
              <a:t>Cryptographic Implementation:</a:t>
            </a:r>
            <a:r>
              <a:rPr lang="en-US" altLang="en-US" sz="2400">
                <a:latin typeface="Segoe UI" panose="020B0502040204020203" charset="0"/>
                <a:cs typeface="Segoe UI" panose="020B0502040204020203" charset="0"/>
              </a:rPr>
              <a:t> To integrate AES-256 (GCM Mode) for authenticated encryption, ensuring data confidentiality and integrity.</a:t>
            </a:r>
            <a:endParaRPr lang="en-US" altLang="en-US" sz="2400">
              <a:latin typeface="Segoe UI" panose="020B0502040204020203" charset="0"/>
              <a:cs typeface="Segoe UI" panose="020B05020402040202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b="1" u="sng">
                <a:latin typeface="Segoe UI" panose="020B0502040204020203" charset="0"/>
                <a:cs typeface="Segoe UI" panose="020B0502040204020203" charset="0"/>
              </a:rPr>
              <a:t>Privacy Architecture:</a:t>
            </a:r>
            <a:r>
              <a:rPr lang="en-US" altLang="en-US" sz="2400">
                <a:latin typeface="Segoe UI" panose="020B0502040204020203" charset="0"/>
                <a:cs typeface="Segoe UI" panose="020B0502040204020203" charset="0"/>
              </a:rPr>
              <a:t> To develop a Zero-Knowledge framework where encryption keys are derived on the client-side using PBKDF2, preventing server-side data exposure.</a:t>
            </a:r>
            <a:endParaRPr lang="en-US" altLang="en-US" sz="2400">
              <a:latin typeface="Segoe UI" panose="020B0502040204020203" charset="0"/>
              <a:cs typeface="Segoe UI" panose="020B05020402040202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b="1" u="sng">
                <a:latin typeface="Segoe UI" panose="020B0502040204020203" charset="0"/>
                <a:cs typeface="Segoe UI" panose="020B0502040204020203" charset="0"/>
              </a:rPr>
              <a:t>Audit Persistence: </a:t>
            </a:r>
            <a:r>
              <a:rPr lang="en-US" altLang="en-US" sz="2400">
                <a:latin typeface="Segoe UI" panose="020B0502040204020203" charset="0"/>
                <a:cs typeface="Segoe UI" panose="020B0502040204020203" charset="0"/>
              </a:rPr>
              <a:t>To implement an immutable logging system using SHA-256 hashing to detect any unauthorized tampering with security logs.</a:t>
            </a:r>
            <a:endParaRPr lang="en-US" altLang="en-US" sz="2400">
              <a:latin typeface="Segoe UI" panose="020B0502040204020203" charset="0"/>
              <a:cs typeface="Segoe UI" panose="020B05020402040202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b="1" u="sng">
                <a:latin typeface="Segoe UI" panose="020B0502040204020203" charset="0"/>
                <a:cs typeface="Segoe UI" panose="020B0502040204020203" charset="0"/>
              </a:rPr>
              <a:t>Performance Optimization: </a:t>
            </a:r>
            <a:r>
              <a:rPr lang="en-US" altLang="en-US" sz="2400">
                <a:latin typeface="Segoe UI" panose="020B0502040204020203" charset="0"/>
                <a:cs typeface="Segoe UI" panose="020B0502040204020203" charset="0"/>
              </a:rPr>
              <a:t>To ensure a seamless user experience by maintaining an encryption/decryption latency of less than 100ms.</a:t>
            </a:r>
            <a:endParaRPr lang="en-US" altLang="en-US" sz="2400">
              <a:latin typeface="Segoe UI" panose="020B0502040204020203" charset="0"/>
              <a:cs typeface="Segoe UI" panose="020B05020402040202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b="1" u="sng">
                <a:latin typeface="Segoe UI" panose="020B0502040204020203" charset="0"/>
                <a:cs typeface="Segoe UI" panose="020B0502040204020203" charset="0"/>
              </a:rPr>
              <a:t>Access Governance:</a:t>
            </a:r>
            <a:r>
              <a:rPr lang="en-US" altLang="en-US" sz="2400">
                <a:latin typeface="Segoe UI" panose="020B0502040204020203" charset="0"/>
                <a:cs typeface="Segoe UI" panose="020B0502040204020203" charset="0"/>
              </a:rPr>
              <a:t> To create a Role-Based Access Control (RBAC) module that strictly governs user permissions and credential visibility.</a:t>
            </a:r>
            <a:endParaRPr lang="en-US" altLang="en-US" sz="2400">
              <a:latin typeface="Segoe UI" panose="020B0502040204020203" charset="0"/>
              <a:cs typeface="Segoe UI" panose="020B0502040204020203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Straight Connector 46"/>
          <p:cNvCxnSpPr/>
          <p:nvPr/>
        </p:nvCxnSpPr>
        <p:spPr>
          <a:xfrm>
            <a:off x="563563" y="6173043"/>
            <a:ext cx="7164387" cy="0"/>
          </a:xfrm>
          <a:prstGeom prst="line">
            <a:avLst/>
          </a:prstGeom>
          <a:ln w="28575">
            <a:solidFill>
              <a:srgbClr val="B9C4C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-62230" y="329565"/>
            <a:ext cx="5130165" cy="5835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7BB6E1"/>
                </a:solidFill>
                <a:latin typeface="Segoe UI" panose="020B0502040204020203" charset="0"/>
                <a:ea typeface="Microsoft YaHei" panose="020B0503020204020204" pitchFamily="34" charset="-122"/>
                <a:cs typeface="Segoe UI" panose="020B0502040204020203" charset="0"/>
              </a:rPr>
              <a:t>The Modular Framework</a:t>
            </a:r>
            <a:endParaRPr lang="en-US" altLang="en-US" sz="3200" b="1" dirty="0">
              <a:solidFill>
                <a:srgbClr val="7BB6E1"/>
              </a:solidFill>
              <a:latin typeface="Segoe UI" panose="020B0502040204020203" charset="0"/>
              <a:ea typeface="Microsoft YaHei" panose="020B0503020204020204" pitchFamily="34" charset="-122"/>
              <a:cs typeface="Segoe UI" panose="020B0502040204020203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74672" y="109581"/>
            <a:ext cx="12041763" cy="6618862"/>
          </a:xfrm>
          <a:prstGeom prst="rect">
            <a:avLst/>
          </a:prstGeom>
          <a:noFill/>
          <a:ln>
            <a:solidFill>
              <a:srgbClr val="7BB6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209550" y="1017270"/>
            <a:ext cx="10904855" cy="44513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2000">
                <a:latin typeface="Segoe UI" panose="020B0502040204020203" charset="0"/>
                <a:cs typeface="Segoe UI" panose="020B0502040204020203" charset="0"/>
              </a:rPr>
              <a:t>The "SentinelsVault" into 5 distinct modules to ensure code reusability and professional system design.</a:t>
            </a:r>
            <a:endParaRPr lang="en-US" altLang="zh-CN" sz="2000">
              <a:latin typeface="Segoe UI" panose="020B0502040204020203" charset="0"/>
              <a:cs typeface="Segoe UI" panose="020B0502040204020203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000">
              <a:latin typeface="Segoe UI" panose="020B0502040204020203" charset="0"/>
              <a:cs typeface="Segoe UI" panose="020B0502040204020203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Segoe UI" panose="020B0502040204020203" charset="0"/>
                <a:cs typeface="Segoe UI" panose="020B0502040204020203" charset="0"/>
              </a:rPr>
              <a:t>Module 1: Authentication Engine: Handles PBKDF2 Key Derivation and Master Password verification.</a:t>
            </a:r>
            <a:endParaRPr lang="en-US" altLang="en-US" sz="2000">
              <a:latin typeface="Segoe UI" panose="020B0502040204020203" charset="0"/>
              <a:cs typeface="Segoe UI" panose="020B0502040204020203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000">
              <a:latin typeface="Segoe UI" panose="020B0502040204020203" charset="0"/>
              <a:cs typeface="Segoe UI" panose="020B0502040204020203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Segoe UI" panose="020B0502040204020203" charset="0"/>
                <a:cs typeface="Segoe UI" panose="020B0502040204020203" charset="0"/>
              </a:rPr>
              <a:t>Module 2: Cryptographic Provider: The core engine implementing AES-256 (GCM mode).</a:t>
            </a:r>
            <a:endParaRPr lang="en-US" altLang="en-US" sz="2000">
              <a:latin typeface="Segoe UI" panose="020B0502040204020203" charset="0"/>
              <a:cs typeface="Segoe UI" panose="020B0502040204020203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000">
              <a:latin typeface="Segoe UI" panose="020B0502040204020203" charset="0"/>
              <a:cs typeface="Segoe UI" panose="020B0502040204020203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Segoe UI" panose="020B0502040204020203" charset="0"/>
                <a:cs typeface="Segoe UI" panose="020B0502040204020203" charset="0"/>
              </a:rPr>
              <a:t>Module 3: Storage Engine: Manages SQLite3 database operations and BLOB data handling.</a:t>
            </a:r>
            <a:endParaRPr lang="en-US" altLang="en-US" sz="2000">
              <a:latin typeface="Segoe UI" panose="020B0502040204020203" charset="0"/>
              <a:cs typeface="Segoe UI" panose="020B0502040204020203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000">
              <a:latin typeface="Segoe UI" panose="020B0502040204020203" charset="0"/>
              <a:cs typeface="Segoe UI" panose="020B0502040204020203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Segoe UI" panose="020B0502040204020203" charset="0"/>
                <a:cs typeface="Segoe UI" panose="020B0502040204020203" charset="0"/>
              </a:rPr>
              <a:t>Module 4: Sentinel Auditor: The intelligence module for vulnerability scanning and password health reports.</a:t>
            </a:r>
            <a:endParaRPr lang="en-US" altLang="en-US" sz="2000">
              <a:latin typeface="Segoe UI" panose="020B0502040204020203" charset="0"/>
              <a:cs typeface="Segoe UI" panose="020B0502040204020203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2000">
              <a:latin typeface="Segoe UI" panose="020B0502040204020203" charset="0"/>
              <a:cs typeface="Segoe UI" panose="020B0502040204020203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Segoe UI" panose="020B0502040204020203" charset="0"/>
                <a:cs typeface="Segoe UI" panose="020B0502040204020203" charset="0"/>
              </a:rPr>
              <a:t>Module 5: Interface Layer: The Desktop GUI built with Python (Tkinter/PyQt).</a:t>
            </a:r>
            <a:endParaRPr lang="en-US" altLang="en-US" sz="2000"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0" y="223881"/>
            <a:ext cx="209550" cy="793257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74037" y="109581"/>
            <a:ext cx="12041763" cy="6618862"/>
          </a:xfrm>
          <a:prstGeom prst="rect">
            <a:avLst/>
          </a:prstGeom>
          <a:noFill/>
          <a:ln>
            <a:solidFill>
              <a:srgbClr val="7BB6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s 1"/>
          <p:cNvSpPr/>
          <p:nvPr/>
        </p:nvSpPr>
        <p:spPr>
          <a:xfrm>
            <a:off x="387350" y="331470"/>
            <a:ext cx="6983730" cy="5651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800" b="1">
                <a:latin typeface="Segoe UI" panose="020B0502040204020203" charset="0"/>
                <a:cs typeface="Segoe UI" panose="020B0502040204020203" charset="0"/>
              </a:rPr>
              <a:t>Technical Architecture &amp; Security Flow</a:t>
            </a:r>
            <a:endParaRPr lang="en-US" altLang="en-US" sz="2800" b="1">
              <a:latin typeface="Segoe UI" panose="020B0502040204020203" charset="0"/>
              <a:cs typeface="Segoe UI" panose="020B0502040204020203" charset="0"/>
            </a:endParaRPr>
          </a:p>
        </p:txBody>
      </p:sp>
      <p:graphicFrame>
        <p:nvGraphicFramePr>
          <p:cNvPr id="5" name="Diagram 4"/>
          <p:cNvGraphicFramePr/>
          <p:nvPr/>
        </p:nvGraphicFramePr>
        <p:xfrm>
          <a:off x="2032000" y="1280160"/>
          <a:ext cx="7635240" cy="5172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" name="Right Arrow 2"/>
          <p:cNvSpPr/>
          <p:nvPr/>
        </p:nvSpPr>
        <p:spPr>
          <a:xfrm>
            <a:off x="4965065" y="1848485"/>
            <a:ext cx="1733550" cy="2952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Left Arrow 5"/>
          <p:cNvSpPr/>
          <p:nvPr/>
        </p:nvSpPr>
        <p:spPr>
          <a:xfrm>
            <a:off x="5037455" y="3778885"/>
            <a:ext cx="1732280" cy="281940"/>
          </a:xfrm>
          <a:prstGeom prst="leftArrow">
            <a:avLst>
              <a:gd name="adj1" fmla="val 56087"/>
              <a:gd name="adj2" fmla="val 5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Down Arrow 6"/>
          <p:cNvSpPr/>
          <p:nvPr/>
        </p:nvSpPr>
        <p:spPr>
          <a:xfrm>
            <a:off x="3412490" y="4577080"/>
            <a:ext cx="251460" cy="109601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3474085" y="5537835"/>
            <a:ext cx="908050" cy="374650"/>
          </a:xfrm>
          <a:prstGeom prst="rightArrow">
            <a:avLst>
              <a:gd name="adj1" fmla="val 31453"/>
              <a:gd name="adj2" fmla="val 5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9229725" y="1849120"/>
            <a:ext cx="1471930" cy="2393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>
            <a:off x="10593705" y="1971040"/>
            <a:ext cx="316865" cy="191579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Left Arrow 10"/>
          <p:cNvSpPr/>
          <p:nvPr/>
        </p:nvSpPr>
        <p:spPr>
          <a:xfrm>
            <a:off x="9309735" y="3795395"/>
            <a:ext cx="1472565" cy="287020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36195" y="45720"/>
            <a:ext cx="12192635" cy="6848475"/>
          </a:xfrm>
          <a:prstGeom prst="rect">
            <a:avLst/>
          </a:prstGeom>
          <a:noFill/>
          <a:ln w="120650" cmpd="thickThin">
            <a:solidFill>
              <a:srgbClr val="7BB6E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60375" y="337185"/>
            <a:ext cx="6074410" cy="497205"/>
          </a:xfrm>
          <a:prstGeom prst="rect">
            <a:avLst/>
          </a:prstGeom>
          <a:solidFill>
            <a:srgbClr val="7BB6E1"/>
          </a:solidFill>
        </p:spPr>
        <p:txBody>
          <a:bodyPr wrap="square" rtlCol="0">
            <a:noAutofit/>
          </a:bodyPr>
          <a:p>
            <a:r>
              <a:rPr lang="en-US" altLang="en-US" sz="2400" b="1">
                <a:solidFill>
                  <a:schemeClr val="bg1"/>
                </a:solidFill>
                <a:latin typeface="Segoe UI" panose="020B0502040204020203" charset="0"/>
                <a:cs typeface="Segoe UI" panose="020B0502040204020203" charset="0"/>
              </a:rPr>
              <a:t>Security Auditing &amp; Vulnerability Scanning</a:t>
            </a:r>
            <a:endParaRPr lang="en-US" sz="2400" b="1">
              <a:solidFill>
                <a:schemeClr val="bg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78790" y="1078230"/>
            <a:ext cx="11148695" cy="5622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latin typeface="Segoe UI" panose="020B0502040204020203" charset="0"/>
                <a:cs typeface="Segoe UI" panose="020B0502040204020203" charset="0"/>
              </a:rPr>
              <a:t>Core Audit Functions :- </a:t>
            </a:r>
            <a:endParaRPr lang="en-US" altLang="en-US"/>
          </a:p>
          <a:p>
            <a:endParaRPr lang="en-US" alt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Segoe UI" panose="020B0502040204020203" charset="0"/>
                <a:cs typeface="Segoe UI" panose="020B0502040204020203" charset="0"/>
              </a:rPr>
              <a:t>Entropy Analysis: Evaluates password complexity based on length, character diversity, and randomness.</a:t>
            </a:r>
            <a:endParaRPr lang="en-US" altLang="en-US" sz="2000">
              <a:latin typeface="Segoe UI" panose="020B0502040204020203" charset="0"/>
              <a:cs typeface="Segoe UI" panose="020B0502040204020203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>
              <a:latin typeface="Segoe UI" panose="020B0502040204020203" charset="0"/>
              <a:cs typeface="Segoe UI" panose="020B0502040204020203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Segoe UI" panose="020B0502040204020203" charset="0"/>
                <a:cs typeface="Segoe UI" panose="020B0502040204020203" charset="0"/>
              </a:rPr>
              <a:t>Duplicate Detection: Scans the SQLite vault to alert users of reused credentials across different platforms.</a:t>
            </a:r>
            <a:endParaRPr lang="en-US" altLang="en-US" sz="2000">
              <a:latin typeface="Segoe UI" panose="020B0502040204020203" charset="0"/>
              <a:cs typeface="Segoe UI" panose="020B0502040204020203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>
              <a:latin typeface="Segoe UI" panose="020B0502040204020203" charset="0"/>
              <a:cs typeface="Segoe UI" panose="020B0502040204020203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Segoe UI" panose="020B0502040204020203" charset="0"/>
                <a:cs typeface="Segoe UI" panose="020B0502040204020203" charset="0"/>
              </a:rPr>
              <a:t>Breach Monitoring (Logic): Cross-references stored hashes against local dictionaries of common/leaked passwords.</a:t>
            </a:r>
            <a:endParaRPr lang="en-US" altLang="en-US" sz="2000">
              <a:latin typeface="Segoe UI" panose="020B0502040204020203" charset="0"/>
              <a:cs typeface="Segoe UI" panose="020B0502040204020203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>
              <a:latin typeface="Segoe UI" panose="020B0502040204020203" charset="0"/>
              <a:cs typeface="Segoe UI" panose="020B0502040204020203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Segoe UI" panose="020B0502040204020203" charset="0"/>
                <a:cs typeface="Segoe UI" panose="020B0502040204020203" charset="0"/>
              </a:rPr>
              <a:t>Immutable Activity Logging: Generates a timestamped audit trail of every database access and modification.</a:t>
            </a:r>
            <a:endParaRPr lang="en-US" altLang="en-US" sz="2000">
              <a:latin typeface="Segoe UI" panose="020B0502040204020203" charset="0"/>
              <a:cs typeface="Segoe UI" panose="020B0502040204020203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>
              <a:latin typeface="Segoe UI" panose="020B0502040204020203" charset="0"/>
              <a:cs typeface="Segoe UI" panose="020B0502040204020203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Segoe UI" panose="020B0502040204020203" charset="0"/>
                <a:cs typeface="Segoe UI" panose="020B0502040204020203" charset="0"/>
              </a:rPr>
              <a:t>Health Reporting: Provides a summarized "Security Score" for the entire enterprise vault.</a:t>
            </a:r>
            <a:endParaRPr lang="en-US" sz="2000"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4445" y="17145"/>
            <a:ext cx="12207875" cy="6866890"/>
          </a:xfrm>
          <a:prstGeom prst="rect">
            <a:avLst/>
          </a:prstGeom>
          <a:noFill/>
          <a:ln w="101600">
            <a:solidFill>
              <a:srgbClr val="7BB6E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58115" y="224790"/>
            <a:ext cx="3791585" cy="480060"/>
          </a:xfrm>
          <a:prstGeom prst="rect">
            <a:avLst/>
          </a:prstGeom>
          <a:solidFill>
            <a:srgbClr val="7BB6E1"/>
          </a:solidFill>
        </p:spPr>
        <p:txBody>
          <a:bodyPr wrap="square" rtlCol="0">
            <a:noAutofit/>
          </a:bodyPr>
          <a:p>
            <a:r>
              <a:rPr lang="en-US" altLang="en-US" sz="2000" b="1">
                <a:solidFill>
                  <a:schemeClr val="bg1"/>
                </a:solidFill>
                <a:latin typeface="Segoe UI" panose="020B0502040204020203" charset="0"/>
                <a:cs typeface="Segoe UI" panose="020B0502040204020203" charset="0"/>
              </a:rPr>
              <a:t>Proposed Interface Design</a:t>
            </a:r>
            <a:endParaRPr lang="en-US" altLang="en-US" sz="2000" b="1">
              <a:solidFill>
                <a:schemeClr val="bg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269240" y="1176020"/>
            <a:ext cx="11471910" cy="52451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464185" y="1482090"/>
            <a:ext cx="2682240" cy="35966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>
                <a:solidFill>
                  <a:schemeClr val="accent1"/>
                </a:solidFill>
                <a:latin typeface="Segoe UI" panose="020B0502040204020203" charset="0"/>
                <a:cs typeface="Segoe UI" panose="020B0502040204020203" charset="0"/>
              </a:rPr>
              <a:t>Login Area</a:t>
            </a:r>
            <a:endParaRPr lang="en-US" altLang="en-US">
              <a:solidFill>
                <a:schemeClr val="accent1"/>
              </a:solidFill>
            </a:endParaRPr>
          </a:p>
          <a:p>
            <a:pPr algn="ctr"/>
            <a:endParaRPr lang="en-US" altLang="en-US">
              <a:solidFill>
                <a:schemeClr val="accent1"/>
              </a:solidFill>
            </a:endParaRPr>
          </a:p>
          <a:p>
            <a:pPr algn="ctr"/>
            <a:endParaRPr lang="en-US" altLang="en-US">
              <a:solidFill>
                <a:schemeClr val="accent1"/>
              </a:solidFill>
            </a:endParaRPr>
          </a:p>
          <a:p>
            <a:pPr algn="ctr"/>
            <a:endParaRPr lang="en-US" altLang="en-US">
              <a:solidFill>
                <a:schemeClr val="accent1"/>
              </a:solidFill>
            </a:endParaRPr>
          </a:p>
          <a:p>
            <a:pPr algn="ctr"/>
            <a:endParaRPr lang="en-US" altLang="en-US">
              <a:solidFill>
                <a:schemeClr val="accent1"/>
              </a:solidFill>
            </a:endParaRPr>
          </a:p>
          <a:p>
            <a:pPr algn="ctr"/>
            <a:endParaRPr lang="en-US" altLang="en-US">
              <a:solidFill>
                <a:schemeClr val="accent1"/>
              </a:solidFill>
            </a:endParaRPr>
          </a:p>
          <a:p>
            <a:pPr algn="ctr"/>
            <a:endParaRPr lang="en-US" altLang="en-US">
              <a:solidFill>
                <a:schemeClr val="accent1"/>
              </a:solidFill>
            </a:endParaRPr>
          </a:p>
          <a:p>
            <a:pPr algn="ctr"/>
            <a:r>
              <a:rPr lang="en-US" altLang="en-US">
                <a:solidFill>
                  <a:schemeClr val="accent1"/>
                </a:solidFill>
                <a:latin typeface="Segoe UI" panose="020B0502040204020203" charset="0"/>
                <a:cs typeface="Segoe UI" panose="020B0502040204020203" charset="0"/>
              </a:rPr>
              <a:t>Email</a:t>
            </a:r>
            <a:endParaRPr lang="en-US" altLang="en-US">
              <a:solidFill>
                <a:schemeClr val="accent1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ctr"/>
            <a:endParaRPr lang="en-US" altLang="en-US">
              <a:solidFill>
                <a:schemeClr val="accent1"/>
              </a:solidFill>
            </a:endParaRPr>
          </a:p>
          <a:p>
            <a:pPr algn="ctr"/>
            <a:endParaRPr lang="en-US" altLang="en-US">
              <a:solidFill>
                <a:schemeClr val="accent1"/>
              </a:solidFill>
            </a:endParaRPr>
          </a:p>
          <a:p>
            <a:pPr algn="ctr"/>
            <a:r>
              <a:rPr lang="en-US" altLang="en-US">
                <a:solidFill>
                  <a:schemeClr val="accent1"/>
                </a:solidFill>
                <a:latin typeface="Segoe UI" panose="020B0502040204020203" charset="0"/>
                <a:cs typeface="Segoe UI" panose="020B0502040204020203" charset="0"/>
              </a:rPr>
              <a:t>Master Password</a:t>
            </a:r>
            <a:endParaRPr lang="en-US" altLang="en-US">
              <a:solidFill>
                <a:schemeClr val="accent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648970" y="3469005"/>
            <a:ext cx="2352040" cy="63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464820" y="4377055"/>
            <a:ext cx="2681605" cy="53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s 10"/>
          <p:cNvSpPr/>
          <p:nvPr/>
        </p:nvSpPr>
        <p:spPr>
          <a:xfrm>
            <a:off x="3312160" y="1361440"/>
            <a:ext cx="5426075" cy="49491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4180205" y="1522730"/>
            <a:ext cx="3753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>
                <a:latin typeface="Segoe UI" panose="020B0502040204020203" charset="0"/>
                <a:cs typeface="Segoe UI" panose="020B0502040204020203" charset="0"/>
              </a:rPr>
              <a:t>Password List</a:t>
            </a:r>
            <a:endParaRPr lang="en-US" altLang="en-US"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3300095" y="2124710"/>
            <a:ext cx="5448300" cy="3346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>
                <a:solidFill>
                  <a:schemeClr val="accent1"/>
                </a:solidFill>
                <a:latin typeface="Segoe UI" panose="020B0502040204020203" charset="0"/>
                <a:cs typeface="Segoe UI" panose="020B0502040204020203" charset="0"/>
              </a:rPr>
              <a:t>Site/App               User Credentials          Password</a:t>
            </a:r>
            <a:endParaRPr lang="en-US">
              <a:solidFill>
                <a:schemeClr val="accent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4532630" y="2152650"/>
            <a:ext cx="8890" cy="41516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118350" y="2143760"/>
            <a:ext cx="8890" cy="42532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318510" y="2809875"/>
            <a:ext cx="54216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3300095" y="3227070"/>
            <a:ext cx="5486400" cy="95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3308985" y="3634740"/>
            <a:ext cx="5431155" cy="279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3308985" y="4042410"/>
            <a:ext cx="5440045" cy="374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3308985" y="4450080"/>
            <a:ext cx="5467985" cy="374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318510" y="4848860"/>
            <a:ext cx="54489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3308985" y="5256530"/>
            <a:ext cx="5458460" cy="95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3318510" y="5617845"/>
            <a:ext cx="5421630" cy="279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3308985" y="6016625"/>
            <a:ext cx="54584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Rectangles 30"/>
          <p:cNvSpPr/>
          <p:nvPr/>
        </p:nvSpPr>
        <p:spPr>
          <a:xfrm>
            <a:off x="8841740" y="1401445"/>
            <a:ext cx="2831465" cy="48634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Text Box 31"/>
          <p:cNvSpPr txBox="1"/>
          <p:nvPr/>
        </p:nvSpPr>
        <p:spPr>
          <a:xfrm>
            <a:off x="8916035" y="1558925"/>
            <a:ext cx="26968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>
                <a:solidFill>
                  <a:schemeClr val="accent1"/>
                </a:solidFill>
                <a:latin typeface="Segoe UI" panose="020B0502040204020203" charset="0"/>
                <a:cs typeface="Segoe UI" panose="020B0502040204020203" charset="0"/>
              </a:rPr>
              <a:t>Audit Score</a:t>
            </a:r>
            <a:endParaRPr lang="en-US" altLang="en-US">
              <a:solidFill>
                <a:schemeClr val="accent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9500235" y="2262505"/>
            <a:ext cx="1466215" cy="150939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" name="Text Box 33"/>
          <p:cNvSpPr txBox="1"/>
          <p:nvPr/>
        </p:nvSpPr>
        <p:spPr>
          <a:xfrm>
            <a:off x="9879965" y="2606040"/>
            <a:ext cx="657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Segoe UI" panose="020B0502040204020203" charset="0"/>
                <a:cs typeface="Segoe UI" panose="020B0502040204020203" charset="0"/>
              </a:rPr>
              <a:t>85%</a:t>
            </a:r>
            <a:endParaRPr lang="en-US"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9073515" y="4080510"/>
            <a:ext cx="2437130" cy="1831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Segoe UI" panose="020B0502040204020203" charset="0"/>
                <a:cs typeface="Segoe UI" panose="020B0502040204020203" charset="0"/>
              </a:rPr>
              <a:t>2 weak passwords</a:t>
            </a:r>
            <a:endParaRPr lang="en-US">
              <a:latin typeface="Segoe UI" panose="020B0502040204020203" charset="0"/>
              <a:cs typeface="Segoe UI" panose="020B05020402040202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Segoe UI" panose="020B0502040204020203" charset="0"/>
              <a:cs typeface="Segoe UI" panose="020B05020402040202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Segoe UI" panose="020B0502040204020203" charset="0"/>
                <a:cs typeface="Segoe UI" panose="020B0502040204020203" charset="0"/>
              </a:rPr>
              <a:t>0 Duplicates</a:t>
            </a:r>
            <a:endParaRPr lang="en-US">
              <a:latin typeface="Segoe UI" panose="020B0502040204020203" charset="0"/>
              <a:cs typeface="Segoe UI" panose="020B05020402040202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Segoe UI" panose="020B0502040204020203" charset="0"/>
              <a:cs typeface="Segoe UI" panose="020B05020402040202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Segoe UI" panose="020B0502040204020203" charset="0"/>
                <a:cs typeface="Segoe UI" panose="020B0502040204020203" charset="0"/>
              </a:rPr>
              <a:t>MFA : Enabled</a:t>
            </a:r>
            <a:endParaRPr lang="en-US"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s 4"/>
          <p:cNvSpPr/>
          <p:nvPr/>
        </p:nvSpPr>
        <p:spPr>
          <a:xfrm>
            <a:off x="4445" y="0"/>
            <a:ext cx="12181205" cy="6866255"/>
          </a:xfrm>
          <a:prstGeom prst="rect">
            <a:avLst/>
          </a:prstGeom>
          <a:noFill/>
          <a:ln w="101600">
            <a:solidFill>
              <a:srgbClr val="7BB6E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349885" y="350520"/>
            <a:ext cx="7637145" cy="54102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2400" b="1">
                <a:solidFill>
                  <a:schemeClr val="accent1"/>
                </a:solidFill>
                <a:latin typeface="Segoe UI" panose="020B0502040204020203" charset="0"/>
                <a:cs typeface="Segoe UI" panose="020B0502040204020203" charset="0"/>
              </a:rPr>
              <a:t>Project Roadmap: 4-Month SDE Implementation</a:t>
            </a:r>
            <a:endParaRPr lang="en-US" altLang="zh-CN" sz="2400" b="1">
              <a:solidFill>
                <a:schemeClr val="accent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04495" y="958850"/>
            <a:ext cx="11000105" cy="5538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u="sng">
                <a:latin typeface="Segoe UI" panose="020B0502040204020203" charset="0"/>
                <a:cs typeface="Segoe UI" panose="020B0502040204020203" charset="0"/>
              </a:rPr>
              <a:t>Requirements &amp; Design:</a:t>
            </a:r>
            <a:r>
              <a:rPr lang="en-US" altLang="en-US" sz="2400">
                <a:latin typeface="Segoe UI" panose="020B0502040204020203" charset="0"/>
                <a:cs typeface="Segoe UI" panose="020B0502040204020203" charset="0"/>
              </a:rPr>
              <a:t> Finalizing SRS, DFD, and SDD documentation. (Status: Completed).</a:t>
            </a:r>
            <a:endParaRPr lang="en-US" altLang="en-US" sz="2400">
              <a:latin typeface="Segoe UI" panose="020B0502040204020203" charset="0"/>
              <a:cs typeface="Segoe UI" panose="020B0502040204020203" charset="0"/>
            </a:endParaRPr>
          </a:p>
          <a:p>
            <a:endParaRPr lang="en-US" altLang="en-US" sz="2400">
              <a:latin typeface="Segoe UI" panose="020B0502040204020203" charset="0"/>
              <a:cs typeface="Segoe UI" panose="020B0502040204020203" charset="0"/>
            </a:endParaRPr>
          </a:p>
          <a:p>
            <a:r>
              <a:rPr lang="en-US" altLang="en-US" sz="2400" u="sng">
                <a:latin typeface="Segoe UI" panose="020B0502040204020203" charset="0"/>
                <a:cs typeface="Segoe UI" panose="020B0502040204020203" charset="0"/>
              </a:rPr>
              <a:t>Core Development: </a:t>
            </a:r>
            <a:r>
              <a:rPr lang="en-US" altLang="en-US" sz="2400">
                <a:latin typeface="Segoe UI" panose="020B0502040204020203" charset="0"/>
                <a:cs typeface="Segoe UI" panose="020B0502040204020203" charset="0"/>
              </a:rPr>
              <a:t>Building the Encryption Engine (AES-256) and Database Schema (SQLite3). (Status: In Progress).</a:t>
            </a:r>
            <a:endParaRPr lang="en-US" altLang="en-US" sz="2400">
              <a:latin typeface="Segoe UI" panose="020B0502040204020203" charset="0"/>
              <a:cs typeface="Segoe UI" panose="020B0502040204020203" charset="0"/>
            </a:endParaRPr>
          </a:p>
          <a:p>
            <a:endParaRPr lang="en-US" altLang="en-US" sz="2400">
              <a:latin typeface="Segoe UI" panose="020B0502040204020203" charset="0"/>
              <a:cs typeface="Segoe UI" panose="020B0502040204020203" charset="0"/>
            </a:endParaRPr>
          </a:p>
          <a:p>
            <a:r>
              <a:rPr lang="en-US" altLang="en-US" sz="2400" u="sng">
                <a:latin typeface="Segoe UI" panose="020B0502040204020203" charset="0"/>
                <a:cs typeface="Segoe UI" panose="020B0502040204020203" charset="0"/>
              </a:rPr>
              <a:t>Feature Expansion:</a:t>
            </a:r>
            <a:r>
              <a:rPr lang="en-US" altLang="en-US" sz="2400">
                <a:latin typeface="Segoe UI" panose="020B0502040204020203" charset="0"/>
                <a:cs typeface="Segoe UI" panose="020B0502040204020203" charset="0"/>
              </a:rPr>
              <a:t> Integrating the Security Auditor and MFA Logic. Developing the GUI.</a:t>
            </a:r>
            <a:endParaRPr lang="en-US" altLang="en-US" sz="2400">
              <a:latin typeface="Segoe UI" panose="020B0502040204020203" charset="0"/>
              <a:cs typeface="Segoe UI" panose="020B0502040204020203" charset="0"/>
            </a:endParaRPr>
          </a:p>
          <a:p>
            <a:endParaRPr lang="en-US" altLang="en-US" sz="2400">
              <a:latin typeface="Segoe UI" panose="020B0502040204020203" charset="0"/>
              <a:cs typeface="Segoe UI" panose="020B0502040204020203" charset="0"/>
            </a:endParaRPr>
          </a:p>
          <a:p>
            <a:r>
              <a:rPr lang="en-US" altLang="en-US" sz="2400" u="sng">
                <a:latin typeface="Segoe UI" panose="020B0502040204020203" charset="0"/>
                <a:cs typeface="Segoe UI" panose="020B0502040204020203" charset="0"/>
              </a:rPr>
              <a:t>Quality Assurance:</a:t>
            </a:r>
            <a:r>
              <a:rPr lang="en-US" altLang="en-US" sz="2400">
                <a:latin typeface="Segoe UI" panose="020B0502040204020203" charset="0"/>
                <a:cs typeface="Segoe UI" panose="020B0502040204020203" charset="0"/>
              </a:rPr>
              <a:t> Unit Testing, Bug Fixing, and Final Project Report.</a:t>
            </a:r>
            <a:endParaRPr lang="en-US" sz="2400"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0" y="0"/>
            <a:ext cx="12192000" cy="6858001"/>
          </a:xfrm>
          <a:prstGeom prst="frame">
            <a:avLst>
              <a:gd name="adj1" fmla="val 5364"/>
            </a:avLst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27003" y="2540920"/>
            <a:ext cx="378206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rgbClr val="2A42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Thank You</a:t>
            </a:r>
            <a:endParaRPr lang="en-US" altLang="zh-CN" sz="5400" b="1" dirty="0">
              <a:solidFill>
                <a:srgbClr val="2A428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20732" y="3429000"/>
            <a:ext cx="299460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600" dirty="0" smtClean="0">
                <a:solidFill>
                  <a:srgbClr val="7BB6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THANK YOU FOR LISTENING</a:t>
            </a:r>
            <a:endParaRPr lang="en-US" altLang="zh-CN" sz="1600" dirty="0">
              <a:solidFill>
                <a:srgbClr val="7BB6E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794559" y="3429000"/>
            <a:ext cx="2646947" cy="0"/>
          </a:xfrm>
          <a:prstGeom prst="line">
            <a:avLst/>
          </a:prstGeom>
          <a:ln>
            <a:solidFill>
              <a:srgbClr val="2A42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227195" y="2422525"/>
            <a:ext cx="3865245" cy="1664335"/>
          </a:xfrm>
          <a:prstGeom prst="rect">
            <a:avLst/>
          </a:prstGeom>
          <a:noFill/>
          <a:ln>
            <a:solidFill>
              <a:srgbClr val="2A42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50429225421"/>
  <p:tag name="MH_LIBRARY" val="CONTENTS"/>
  <p:tag name="MH_TYPE" val="NUMBER"/>
  <p:tag name="ID" val="547142"/>
  <p:tag name="MH_ORDER" val="1"/>
  <p:tag name="KSO_WM_DIAGRAM_VIRTUALLY_FRAME" val="{&quot;height&quot;:235.9296850393701,&quot;left&quot;:441.8209448818898,&quot;top&quot;:31.554645669291336,&quot;width&quot;:369.9323622047244}"/>
</p:tagLst>
</file>

<file path=ppt/tags/tag2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  <p:tag name="KSO_WM_DIAGRAM_VIRTUALLY_FRAME" val="{&quot;height&quot;:235.9296850393701,&quot;left&quot;:441.8209448818898,&quot;top&quot;:31.554645669291336,&quot;width&quot;:369.9323622047244}"/>
</p:tagLst>
</file>

<file path=ppt/tags/tag3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2"/>
  <p:tag name="KSO_WM_DIAGRAM_VIRTUALLY_FRAME" val="{&quot;height&quot;:235.9296850393701,&quot;left&quot;:441.8209448818898,&quot;top&quot;:31.554645669291336,&quot;width&quot;:369.9323622047244}"/>
</p:tagLst>
</file>

<file path=ppt/tags/tag4.xml><?xml version="1.0" encoding="utf-8"?>
<p:tagLst xmlns:p="http://schemas.openxmlformats.org/presentationml/2006/main">
  <p:tag name="MH" val="20150429225421"/>
  <p:tag name="MH_LIBRARY" val="CONTENTS"/>
  <p:tag name="MH_TYPE" val="NUMBER"/>
  <p:tag name="ID" val="547142"/>
  <p:tag name="MH_ORDER" val="2"/>
  <p:tag name="KSO_WM_DIAGRAM_VIRTUALLY_FRAME" val="{&quot;height&quot;:235.9296850393701,&quot;left&quot;:441.8209448818898,&quot;top&quot;:31.554645669291336,&quot;width&quot;:369.9323622047244}"/>
</p:tagLst>
</file>

<file path=ppt/tags/tag5.xml><?xml version="1.0" encoding="utf-8"?>
<p:tagLst xmlns:p="http://schemas.openxmlformats.org/presentationml/2006/main">
  <p:tag name="MH" val="20150429225421"/>
  <p:tag name="MH_LIBRARY" val="CONTENTS"/>
  <p:tag name="MH_TYPE" val="NUMBER"/>
  <p:tag name="ID" val="547142"/>
  <p:tag name="MH_ORDER" val="1"/>
  <p:tag name="KSO_WM_DIAGRAM_VIRTUALLY_FRAME" val="{&quot;height&quot;:235.9296850393701,&quot;left&quot;:441.8209448818898,&quot;top&quot;:31.554645669291336,&quot;width&quot;:369.9323622047244}"/>
</p:tagLst>
</file>

<file path=ppt/tags/tag6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  <p:tag name="KSO_WM_DIAGRAM_VIRTUALLY_FRAME" val="{&quot;height&quot;:235.9296850393701,&quot;left&quot;:441.8209448818898,&quot;top&quot;:31.554645669291336,&quot;width&quot;:369.9323622047244}"/>
</p:tagLst>
</file>

<file path=ppt/tags/tag7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2"/>
  <p:tag name="KSO_WM_DIAGRAM_VIRTUALLY_FRAME" val="{&quot;height&quot;:235.9296850393701,&quot;left&quot;:441.8209448818898,&quot;top&quot;:31.554645669291336,&quot;width&quot;:369.9323622047244}"/>
</p:tagLst>
</file>

<file path=ppt/tags/tag8.xml><?xml version="1.0" encoding="utf-8"?>
<p:tagLst xmlns:p="http://schemas.openxmlformats.org/presentationml/2006/main">
  <p:tag name="MH" val="20150429225421"/>
  <p:tag name="MH_LIBRARY" val="CONTENTS"/>
  <p:tag name="MH_TYPE" val="NUMBER"/>
  <p:tag name="ID" val="547142"/>
  <p:tag name="MH_ORDER" val="2"/>
  <p:tag name="KSO_WM_DIAGRAM_VIRTUALLY_FRAME" val="{&quot;height&quot;:235.9296850393701,&quot;left&quot;:441.8209448818898,&quot;top&quot;:31.554645669291336,&quot;width&quot;:369.9323622047244}"/>
</p:tagLst>
</file>

<file path=ppt/tags/tag9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10.xml><?xml version="1.0" encoding="utf-8"?>
<p:tagLst xmlns:p="http://schemas.openxmlformats.org/presentationml/2006/main">
  <p:tag name="KSO_WM_DIAGRAM_VIRTUALLY_FRAME" val="{&quot;height&quot;:322.3750393700787,&quot;left&quot;:50.657086614173224,&quot;top&quot;:125.90409448818897,&quot;width&quot;:859.9012598425197}"/>
</p:tagLst>
</file>

<file path=ppt/tags/tag11.xml><?xml version="1.0" encoding="utf-8"?>
<p:tagLst xmlns:p="http://schemas.openxmlformats.org/presentationml/2006/main">
  <p:tag name="KSO_WM_DIAGRAM_VIRTUALLY_FRAME" val="{&quot;height&quot;:322.3750393700787,&quot;left&quot;:50.657086614173224,&quot;top&quot;:125.90409448818897,&quot;width&quot;:859.9012598425197}"/>
</p:tagLst>
</file>

<file path=ppt/tags/tag12.xml><?xml version="1.0" encoding="utf-8"?>
<p:tagLst xmlns:p="http://schemas.openxmlformats.org/presentationml/2006/main">
  <p:tag name="KSO_WM_DIAGRAM_VIRTUALLY_FRAME" val="{&quot;height&quot;:322.3750393700787,&quot;left&quot;:50.657086614173224,&quot;top&quot;:125.90409448818897,&quot;width&quot;:859.9012598425197}"/>
</p:tagLst>
</file>

<file path=ppt/tags/tag13.xml><?xml version="1.0" encoding="utf-8"?>
<p:tagLst xmlns:p="http://schemas.openxmlformats.org/presentationml/2006/main">
  <p:tag name="KSO_WM_DIAGRAM_VIRTUALLY_FRAME" val="{&quot;height&quot;:322.3750393700787,&quot;left&quot;:50.657086614173224,&quot;top&quot;:125.90409448818897,&quot;width&quot;:859.9012598425197}"/>
</p:tagLst>
</file>

<file path=ppt/tags/tag14.xml><?xml version="1.0" encoding="utf-8"?>
<p:tagLst xmlns:p="http://schemas.openxmlformats.org/presentationml/2006/main">
  <p:tag name="KSO_WM_DIAGRAM_VIRTUALLY_FRAME" val="{&quot;height&quot;:322.3750393700787,&quot;left&quot;:50.657086614173224,&quot;top&quot;:125.90409448818897,&quot;width&quot;:859.9012598425197}"/>
</p:tagLst>
</file>

<file path=ppt/tags/tag15.xml><?xml version="1.0" encoding="utf-8"?>
<p:tagLst xmlns:p="http://schemas.openxmlformats.org/presentationml/2006/main">
  <p:tag name="KSO_WM_DIAGRAM_VIRTUALLY_FRAME" val="{&quot;height&quot;:322.3750393700787,&quot;left&quot;:50.657086614173224,&quot;top&quot;:125.90409448818897,&quot;width&quot;:859.9012598425197}"/>
</p:tagLst>
</file>

<file path=ppt/tags/tag16.xml><?xml version="1.0" encoding="utf-8"?>
<p:tagLst xmlns:p="http://schemas.openxmlformats.org/presentationml/2006/main">
  <p:tag name="KSO_WM_DIAGRAM_VIRTUALLY_FRAME" val="{&quot;height&quot;:322.3750393700787,&quot;left&quot;:50.657086614173224,&quot;top&quot;:125.90409448818897,&quot;width&quot;:859.9012598425197}"/>
</p:tagLst>
</file>

<file path=ppt/tags/tag17.xml><?xml version="1.0" encoding="utf-8"?>
<p:tagLst xmlns:p="http://schemas.openxmlformats.org/presentationml/2006/main">
  <p:tag name="KSO_WM_DIAGRAM_VIRTUALLY_FRAME" val="{&quot;height&quot;:322.3750393700787,&quot;left&quot;:50.657086614173224,&quot;top&quot;:125.90409448818897,&quot;width&quot;:859.9012598425197}"/>
</p:tagLst>
</file>

<file path=ppt/tags/tag18.xml><?xml version="1.0" encoding="utf-8"?>
<p:tagLst xmlns:p="http://schemas.openxmlformats.org/presentationml/2006/main">
  <p:tag name="KSO_WM_DIAGRAM_VIRTUALLY_FRAME" val="{&quot;height&quot;:322.3750393700787,&quot;left&quot;:50.657086614173224,&quot;top&quot;:125.90409448818897,&quot;width&quot;:859.9012598425197}"/>
</p:tagLst>
</file>

<file path=ppt/tags/tag19.xml><?xml version="1.0" encoding="utf-8"?>
<p:tagLst xmlns:p="http://schemas.openxmlformats.org/presentationml/2006/main">
  <p:tag name="KSO_WM_DIAGRAM_VIRTUALLY_FRAME" val="{&quot;height&quot;:322.3750393700787,&quot;left&quot;:50.657086614173224,&quot;top&quot;:125.90409448818897,&quot;width&quot;:859.9012598425197}"/>
</p:tagLst>
</file>

<file path=ppt/tags/tag20.xml><?xml version="1.0" encoding="utf-8"?>
<p:tagLst xmlns:p="http://schemas.openxmlformats.org/presentationml/2006/main">
  <p:tag name="KSO_WM_DIAGRAM_VIRTUALLY_FRAME" val="{&quot;height&quot;:322.3750393700787,&quot;left&quot;:50.657086614173224,&quot;top&quot;:125.90409448818897,&quot;width&quot;:859.9012598425197}"/>
</p:tagLst>
</file>

<file path=ppt/tags/tag21.xml><?xml version="1.0" encoding="utf-8"?>
<p:tagLst xmlns:p="http://schemas.openxmlformats.org/presentationml/2006/main">
  <p:tag name="KSO_WM_DIAGRAM_VIRTUALLY_FRAME" val="{&quot;height&quot;:322.3750393700787,&quot;left&quot;:50.657086614173224,&quot;top&quot;:125.90409448818897,&quot;width&quot;:859.9012598425197}"/>
</p:tagLst>
</file>

<file path=ppt/tags/tag22.xml><?xml version="1.0" encoding="utf-8"?>
<p:tagLst xmlns:p="http://schemas.openxmlformats.org/presentationml/2006/main">
  <p:tag name="KSO_WM_DIAGRAM_VIRTUALLY_FRAME" val="{&quot;height&quot;:322.3750393700787,&quot;left&quot;:50.657086614173224,&quot;top&quot;:125.90409448818897,&quot;width&quot;:859.9012598425197}"/>
</p:tagLst>
</file>

<file path=ppt/tags/tag23.xml><?xml version="1.0" encoding="utf-8"?>
<p:tagLst xmlns:p="http://schemas.openxmlformats.org/presentationml/2006/main">
  <p:tag name="KSO_WM_DIAGRAM_VIRTUALLY_FRAME" val="{&quot;height&quot;:322.3750393700787,&quot;left&quot;:50.657086614173224,&quot;top&quot;:125.90409448818897,&quot;width&quot;:859.9012598425197}"/>
</p:tagLst>
</file>

<file path=ppt/tags/tag24.xml><?xml version="1.0" encoding="utf-8"?>
<p:tagLst xmlns:p="http://schemas.openxmlformats.org/presentationml/2006/main">
  <p:tag name="KSO_WM_DIAGRAM_VIRTUALLY_FRAME" val="{&quot;height&quot;:322.3750393700787,&quot;left&quot;:50.657086614173224,&quot;top&quot;:125.90409448818897,&quot;width&quot;:859.9012598425197}"/>
</p:tagLst>
</file>

<file path=ppt/tags/tag25.xml><?xml version="1.0" encoding="utf-8"?>
<p:tagLst xmlns:p="http://schemas.openxmlformats.org/presentationml/2006/main">
  <p:tag name="KSO_WM_DIAGRAM_VIRTUALLY_FRAME" val="{&quot;height&quot;:322.3750393700787,&quot;left&quot;:50.657086614173224,&quot;top&quot;:125.90409448818897,&quot;width&quot;:859.9012598425197}"/>
</p:tagLst>
</file>

<file path=ppt/tags/tag26.xml><?xml version="1.0" encoding="utf-8"?>
<p:tagLst xmlns:p="http://schemas.openxmlformats.org/presentationml/2006/main">
  <p:tag name="KSO_WM_DIAGRAM_VIRTUALLY_FRAME" val="{&quot;height&quot;:322.3750393700787,&quot;left&quot;:50.657086614173224,&quot;top&quot;:125.90409448818897,&quot;width&quot;:859.9012598425197}"/>
</p:tagLst>
</file>

<file path=ppt/tags/tag27.xml><?xml version="1.0" encoding="utf-8"?>
<p:tagLst xmlns:p="http://schemas.openxmlformats.org/presentationml/2006/main">
  <p:tag name="KSO_WM_DIAGRAM_VIRTUALLY_FRAME" val="{&quot;height&quot;:322.3750393700787,&quot;left&quot;:50.657086614173224,&quot;top&quot;:125.90409448818897,&quot;width&quot;:859.9012598425197}"/>
</p:tagLst>
</file>

<file path=ppt/tags/tag28.xml><?xml version="1.0" encoding="utf-8"?>
<p:tagLst xmlns:p="http://schemas.openxmlformats.org/presentationml/2006/main">
  <p:tag name="KSO_WM_DIAGRAM_VIRTUALLY_FRAME" val="{&quot;height&quot;:322.3750393700787,&quot;left&quot;:50.657086614173224,&quot;top&quot;:125.90409448818897,&quot;width&quot;:859.9012598425197}"/>
</p:tagLst>
</file>

<file path=ppt/tags/tag29.xml><?xml version="1.0" encoding="utf-8"?>
<p:tagLst xmlns:p="http://schemas.openxmlformats.org/presentationml/2006/main">
  <p:tag name="KSO_WM_DIAGRAM_VIRTUALLY_FRAME" val="{&quot;height&quot;:322.3750393700787,&quot;left&quot;:50.657086614173224,&quot;top&quot;:125.90409448818897,&quot;width&quot;:859.9012598425197}"/>
</p:tagLst>
</file>

<file path=ppt/tags/tag30.xml><?xml version="1.0" encoding="utf-8"?>
<p:tagLst xmlns:p="http://schemas.openxmlformats.org/presentationml/2006/main">
  <p:tag name="KSO_WM_DIAGRAM_VIRTUALLY_FRAME" val="{&quot;height&quot;:322.3750393700787,&quot;left&quot;:50.657086614173224,&quot;top&quot;:125.90409448818897,&quot;width&quot;:859.9012598425197}"/>
</p:tagLst>
</file>

<file path=ppt/tags/tag31.xml><?xml version="1.0" encoding="utf-8"?>
<p:tagLst xmlns:p="http://schemas.openxmlformats.org/presentationml/2006/main">
  <p:tag name="KSO_WM_DIAGRAM_VIRTUALLY_FRAME" val="{&quot;height&quot;:322.3750393700787,&quot;left&quot;:50.657086614173224,&quot;top&quot;:125.90409448818897,&quot;width&quot;:859.9012598425197}"/>
</p:tagLst>
</file>

<file path=ppt/tags/tag32.xml><?xml version="1.0" encoding="utf-8"?>
<p:tagLst xmlns:p="http://schemas.openxmlformats.org/presentationml/2006/main">
  <p:tag name="KSO_WM_DIAGRAM_VIRTUALLY_FRAME" val="{&quot;height&quot;:322.3750393700787,&quot;left&quot;:50.657086614173224,&quot;top&quot;:125.90409448818897,&quot;width&quot;:859.9012598425197}"/>
</p:tagLst>
</file>

<file path=ppt/tags/tag33.xml><?xml version="1.0" encoding="utf-8"?>
<p:tagLst xmlns:p="http://schemas.openxmlformats.org/presentationml/2006/main">
  <p:tag name="MH" val="20150429225421"/>
  <p:tag name="MH_LIBRARY" val="CONTENTS"/>
  <p:tag name="MH_AUTOCOLOR" val="TRUE"/>
  <p:tag name="MH_TYPE" val="CONTENTS"/>
  <p:tag name="ID" val="547142"/>
</p:tagLst>
</file>

<file path=ppt/tags/tag34.xml><?xml version="1.0" encoding="utf-8"?>
<p:tagLst xmlns:p="http://schemas.openxmlformats.org/presentationml/2006/main">
  <p:tag name="MH" val="20150429225421"/>
  <p:tag name="MH_LIBRARY" val="CONTENTS"/>
  <p:tag name="MH_AUTOCOLOR" val="TRUE"/>
  <p:tag name="MH_TYPE" val="CONTENTS"/>
  <p:tag name="ID" val="54714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imSun"/>
        <a:ea typeface=""/>
        <a:cs typeface=""/>
        <a:font script="Jpan" typeface="游ゴシック Light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imSun"/>
        <a:ea typeface=""/>
        <a:cs typeface=""/>
        <a:font script="Jpan" typeface="游ゴシック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3701</Words>
  <Application>WPS Presentation</Application>
  <PresentationFormat>宽屏</PresentationFormat>
  <Paragraphs>146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Segoe UI</vt:lpstr>
      <vt:lpstr>Microsoft YaHei</vt:lpstr>
      <vt:lpstr>Calibri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xiaofan Zhou</dc:creator>
  <cp:lastModifiedBy>Parineeta</cp:lastModifiedBy>
  <cp:revision>21</cp:revision>
  <dcterms:created xsi:type="dcterms:W3CDTF">2015-11-15T13:49:00Z</dcterms:created>
  <dcterms:modified xsi:type="dcterms:W3CDTF">2026-02-23T06:14:30Z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1033-12.2.0.23196</vt:lpwstr>
  </property>
  <property fmtid="{D5CDD505-2E9C-101B-9397-08002B2CF9AE}" pid="3" name="ICV">
    <vt:lpwstr>47E71A5B846747ABB00DC79237584D13_13</vt:lpwstr>
  </property>
</Properties>
</file>